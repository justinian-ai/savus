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firstSlideNum="1" mc:Ignorable="p15">
  <p:sldMasterIdLst>
    <p:sldMasterId id="2147483648" r:id="rId0"/>
    <p:sldMasterId id="214748365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193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3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933"/>
        <p:guide pos="3840"/>
        <p:guide orient="horz" pos="23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8.xml" /><Relationship Id="rId8" Type="http://schemas.openxmlformats.org/officeDocument/2006/relationships/slide" Target="slides/slide7.xml" /><Relationship Id="rId4" Type="http://schemas.openxmlformats.org/officeDocument/2006/relationships/slide" Target="slides/slide3.xml" /><Relationship Id="rId6" Type="http://schemas.openxmlformats.org/officeDocument/2006/relationships/slide" Target="slides/slide5.xml" /><Relationship Id="rId23" Type="http://schemas.openxmlformats.org/officeDocument/2006/relationships/tableStyles" Target="tableStyles.xml" /><Relationship Id="rId0" Type="http://schemas.openxmlformats.org/officeDocument/2006/relationships/slideMaster" Target="slideMasters/slideMaster1.xml" /><Relationship Id="rId22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2.xml" /><Relationship Id="rId14" Type="http://schemas.openxmlformats.org/officeDocument/2006/relationships/slide" Target="slides/slide13.xml" /><Relationship Id="rId17" Type="http://schemas.openxmlformats.org/officeDocument/2006/relationships/slide" Target="slides/slide16.xml" /><Relationship Id="rId16" Type="http://schemas.openxmlformats.org/officeDocument/2006/relationships/slide" Target="slides/slide15.xml" /><Relationship Id="rId13" Type="http://schemas.openxmlformats.org/officeDocument/2006/relationships/slide" Target="slides/slide12.xml" /><Relationship Id="rId12" Type="http://schemas.openxmlformats.org/officeDocument/2006/relationships/slide" Target="slides/slide11.xml" /><Relationship Id="rId24" Type="http://schemas.openxmlformats.org/officeDocument/2006/relationships/viewProps" Target="viewProps.xml" /><Relationship Id="rId11" Type="http://schemas.openxmlformats.org/officeDocument/2006/relationships/slide" Target="slides/slide10.xml" /><Relationship Id="rId15" Type="http://schemas.openxmlformats.org/officeDocument/2006/relationships/slide" Target="slides/slide14.xml" /><Relationship Id="rId7" Type="http://schemas.openxmlformats.org/officeDocument/2006/relationships/slide" Target="slides/slide6.xml" /><Relationship Id="rId10" Type="http://schemas.openxmlformats.org/officeDocument/2006/relationships/slide" Target="slides/slide9.xml" /><Relationship Id="rId5" Type="http://schemas.openxmlformats.org/officeDocument/2006/relationships/slide" Target="slides/slide4.xml" /><Relationship Id="rId18" Type="http://schemas.openxmlformats.org/officeDocument/2006/relationships/slide" Target="slides/slide1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5282F153-3F37-0F45-9E97-73ACFA13230C}" type="datetimeFigureOut">
              <a:rPr lang="en-US"/>
              <a:t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CE5E9CC1-C706-0F49-92D6-E571CC5EEA8F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 /><Relationship Id="rId0" Type="http://schemas.openxmlformats.org/officeDocument/2006/relationships/slideLayout" Target="../slideLayouts/slideLayout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6" Type="http://schemas.openxmlformats.org/officeDocument/2006/relationships/image" Target="media/image20.svg" /><Relationship Id="rId4" Type="http://schemas.openxmlformats.org/officeDocument/2006/relationships/image" Target="media/image18.svg" /><Relationship Id="rId3" Type="http://schemas.openxmlformats.org/officeDocument/2006/relationships/image" Target="media/image17.svg" /><Relationship Id="rId1" Type="http://schemas.openxmlformats.org/officeDocument/2006/relationships/image" Target="media/image15.svg" /><Relationship Id="rId5" Type="http://schemas.openxmlformats.org/officeDocument/2006/relationships/image" Target="media/image19.svg" /><Relationship Id="rId2" Type="http://schemas.openxmlformats.org/officeDocument/2006/relationships/image" Target="media/image16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1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8" Type="http://schemas.openxmlformats.org/officeDocument/2006/relationships/image" Target="media/image8.svg" /><Relationship Id="rId6" Type="http://schemas.openxmlformats.org/officeDocument/2006/relationships/image" Target="media/image6.svg" /><Relationship Id="rId7" Type="http://schemas.openxmlformats.org/officeDocument/2006/relationships/image" Target="media/image7.svg" /><Relationship Id="rId4" Type="http://schemas.openxmlformats.org/officeDocument/2006/relationships/image" Target="media/image4.svg" /><Relationship Id="rId3" Type="http://schemas.openxmlformats.org/officeDocument/2006/relationships/image" Target="media/image3.svg" /><Relationship Id="rId2" Type="http://schemas.openxmlformats.org/officeDocument/2006/relationships/image" Target="media/image2.svg" /><Relationship Id="rId5" Type="http://schemas.openxmlformats.org/officeDocument/2006/relationships/image" Target="media/image5.svg" /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3" Type="http://schemas.openxmlformats.org/officeDocument/2006/relationships/image" Target="media/image11.svg" /><Relationship Id="rId2" Type="http://schemas.openxmlformats.org/officeDocument/2006/relationships/image" Target="media/image10.svg" /><Relationship Id="rId1" Type="http://schemas.openxmlformats.org/officeDocument/2006/relationships/image" Target="media/image9.sv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12.sv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2" Type="http://schemas.openxmlformats.org/officeDocument/2006/relationships/image" Target="media/image14.svg" /><Relationship Id="rId1" Type="http://schemas.openxmlformats.org/officeDocument/2006/relationships/image" Target="media/image13.sv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255" name="" descr="&lt;Slide style={{ width:'1280px', height:'720px', background:'#1B1F3B', padding:'70px 80px', display:'flex', flexDirection:'column', justifyContent:'center', position:'relative' }}&gt;&#10;  &lt;Box style={{ position:'absolute', top:0, right:0, width:260, height:260, background:'linear-gradient(135deg,#FF6B35 0%, transparent 100%)', opacity:0.16 }} /&gt;&#10;  &lt;Box style={{ position:'absolute', left:80, top:74, width:60, height:8, background:'#FF6B35', borderRadius:4 }} /&gt;&#10;  &lt;Text style={{ fontSize:22, color:'#FF6B35', fontWeight:'bold', letterSpacing:3, fontFamily:'Inter' }}&gt;GOAI 新智基座 · Agent Infra 赛道&lt;/Text&gt;&#10;  &lt;Text style={{ fontSize:78, fontWeight:'bold', color:'#FFFFFF', marginTop:16, fontFamily:'PingFang SC' }}&gt;LoopDesk&lt;/Text&gt;&#10;  &lt;Text style={{ fontSize:38, fontWeight:'bold', color:'#FFFFFF', marginTop:4, fontFamily:'PingFang SC' }}&gt;可验证交付的 Agent 研发运行时&lt;/Text&gt;&#10;  &lt;Box style={{ width:90, height:6, background:'#FF6B35', borderRadius:3, margin:'30px 0' }} /&gt;&#10;  &lt;Text style={{ fontSize:22, color:'#C7CCE0', lineHeight:1.7, fontFamily:'PingFang SC', maxWidth:920 }}&gt;&#10;    作为 AgentTeams 的&lt;Text style={{ color:'#FF6B35', fontWeight:'bold' }}&gt;第四种 Worker Runtime&lt;/Text&gt;，让 AI Agent 的研发交付从&lt;Text style={{ color:'#FF6B35', fontWeight:'bold' }}&gt;“自己说完成”&lt;/Text&gt;变成&lt;Text style={{ color:'#FF6B35', fontWeight:'bold' }}&gt;“被独立验证过”&lt;/Text&gt;。&#10;  &lt;/Text&gt;&#10;  &lt;Box style={{ position:'absolute', bottom:56, left:80, display:'flex', gap:36, alignItems:'center' }}&gt;&#10;    &lt;Text style={{ fontSize:16, color:'#9AA1B8', fontFamily:'Inter' }}&gt;初赛方案 v1.0&lt;/Text&gt;&#10;    &lt;Box style={{ width:1, height:16, background:'#3A4068' }} /&gt;&#10;    &lt;Text style={{ fontSize:16, color:'#9AA1B8', fontFamily:'Inter' }}&gt;2026.08&lt;/Text&gt;&#10;    &lt;Box style={{ width:1, height:16, background:'#3A4068' }} /&gt;&#10;    &lt;Text style={{ fontSize:16, color:'#9AA1B8', fontFamily:'Inter' }}&gt;Apache-2.0 · v0.3.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1F3B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62000" y="2009775"/>
            <a:ext cx="1066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225">
                <a:solidFill>
                  <a:srgbClr val="FF6B35"/>
                </a:solidFill>
                <a:latin typeface="Inter"/>
                <a:ea typeface="Inter"/>
              </a:rPr>
              <a:t>GOAI </a:t>
            </a:r>
            <a:r>
              <a:rPr lang="zh-CN" sz="1650" b="1" spc="225">
                <a:solidFill>
                  <a:srgbClr val="FF6B35"/>
                </a:solidFill>
                <a:latin typeface="Inter"/>
                <a:ea typeface="Inter"/>
              </a:rPr>
              <a:t>新智基座</a:t>
            </a:r>
            <a:r>
              <a:rPr lang="en-US" sz="1650" b="1" spc="225">
                <a:solidFill>
                  <a:srgbClr val="FF6B35"/>
                </a:solidFill>
                <a:latin typeface="Inter"/>
                <a:ea typeface="Inter"/>
              </a:rPr>
              <a:t> · Agent Infra </a:t>
            </a:r>
            <a:r>
              <a:rPr lang="zh-CN" sz="1650" b="1" spc="225">
                <a:solidFill>
                  <a:srgbClr val="FF6B35"/>
                </a:solidFill>
                <a:latin typeface="Inter"/>
                <a:ea typeface="Inter"/>
              </a:rPr>
              <a:t>赛道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62000" y="2419350"/>
            <a:ext cx="10668000" cy="895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850" b="1">
                <a:solidFill>
                  <a:srgbClr val="FFFFFF"/>
                </a:solidFill>
                <a:latin typeface="PingFang SC"/>
                <a:ea typeface="PingFang SC"/>
              </a:rPr>
              <a:t>LoopDesk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762000" y="3352800"/>
            <a:ext cx="106680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PingFang SC"/>
                <a:ea typeface="PingFang SC"/>
              </a:rPr>
              <a:t>可验证交付的</a:t>
            </a:r>
            <a:r>
              <a:rPr lang="en-US" sz="2850" b="1">
                <a:solidFill>
                  <a:srgbClr val="FFFFFF"/>
                </a:solidFill>
                <a:latin typeface="PingFang SC"/>
                <a:ea typeface="PingFang SC"/>
              </a:rPr>
              <a:t> Agent </a:t>
            </a:r>
            <a:r>
              <a:rPr lang="zh-CN" sz="2850" b="1">
                <a:solidFill>
                  <a:srgbClr val="FFFFFF"/>
                </a:solidFill>
                <a:latin typeface="PingFang SC"/>
                <a:ea typeface="PingFang SC"/>
              </a:rPr>
              <a:t>研发运行时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762000" y="4076700"/>
            <a:ext cx="857250" cy="571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62000" y="4419600"/>
            <a:ext cx="10287000" cy="4286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C7CCE0"/>
                </a:solidFill>
                <a:latin typeface="PingFang SC"/>
                <a:ea typeface="PingFang SC"/>
              </a:rPr>
              <a:t>作为</a:t>
            </a:r>
            <a:r>
              <a:rPr lang="en-US" sz="1650">
                <a:solidFill>
                  <a:srgbClr val="C7CCE0"/>
                </a:solidFill>
                <a:latin typeface="PingFang SC"/>
                <a:ea typeface="PingFang SC"/>
              </a:rPr>
              <a:t> AgentTeams </a:t>
            </a:r>
            <a:r>
              <a:rPr lang="zh-CN" sz="1650">
                <a:solidFill>
                  <a:srgbClr val="C7CCE0"/>
                </a:solidFill>
                <a:latin typeface="PingFang SC"/>
                <a:ea typeface="PingFang SC"/>
              </a:rPr>
              <a:t>的</a:t>
            </a:r>
            <a:r>
              <a:rPr lang="zh-CN" sz="1650">
                <a:solidFill>
                  <a:srgbClr val="C7CCE0"/>
                </a:solidFill>
                <a:latin typeface="PingFang SC"/>
                <a:ea typeface="PingFang SC"/>
              </a:rPr>
              <a:t>第四种</a:t>
            </a:r>
            <a:r>
              <a:rPr lang="en-US" sz="1650">
                <a:solidFill>
                  <a:srgbClr val="C7CCE0"/>
                </a:solidFill>
                <a:latin typeface="PingFang SC"/>
                <a:ea typeface="PingFang SC"/>
              </a:rPr>
              <a:t> Worker Runtime</a:t>
            </a:r>
            <a:r>
              <a:rPr lang="zh-CN" sz="1650">
                <a:solidFill>
                  <a:srgbClr val="C7CCE0"/>
                </a:solidFill>
                <a:latin typeface="PingFang SC"/>
                <a:ea typeface="PingFang SC"/>
              </a:rPr>
              <a:t>，让</a:t>
            </a:r>
            <a:r>
              <a:rPr lang="en-US" sz="1650">
                <a:solidFill>
                  <a:srgbClr val="C7CCE0"/>
                </a:solidFill>
                <a:latin typeface="PingFang SC"/>
                <a:ea typeface="PingFang SC"/>
              </a:rPr>
              <a:t> AI Agent </a:t>
            </a:r>
            <a:r>
              <a:rPr lang="zh-CN" sz="1650">
                <a:solidFill>
                  <a:srgbClr val="C7CCE0"/>
                </a:solidFill>
                <a:latin typeface="PingFang SC"/>
                <a:ea typeface="PingFang SC"/>
              </a:rPr>
              <a:t>的研发交付从</a:t>
            </a:r>
            <a:r>
              <a:rPr lang="zh-CN" sz="1650">
                <a:solidFill>
                  <a:srgbClr val="C7CCE0"/>
                </a:solidFill>
                <a:latin typeface="PingFang SC"/>
                <a:ea typeface="PingFang SC"/>
              </a:rPr>
              <a:t>“自己说完成”</a:t>
            </a:r>
            <a:r>
              <a:rPr lang="zh-CN" sz="1650">
                <a:solidFill>
                  <a:srgbClr val="C7CCE0"/>
                </a:solidFill>
                <a:latin typeface="PingFang SC"/>
                <a:ea typeface="PingFang SC"/>
              </a:rPr>
              <a:t>变成</a:t>
            </a:r>
            <a:r>
              <a:rPr lang="zh-CN" sz="1650">
                <a:solidFill>
                  <a:srgbClr val="C7CCE0"/>
                </a:solidFill>
                <a:latin typeface="PingFang SC"/>
                <a:ea typeface="PingFang SC"/>
              </a:rPr>
              <a:t>“被独立验证过”</a:t>
            </a:r>
            <a:r>
              <a:rPr lang="zh-CN" sz="1650">
                <a:solidFill>
                  <a:srgbClr val="C7CCE0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9715500" y="0"/>
            <a:ext cx="2476500" cy="2476500"/>
          </a:xfrm>
          <a:prstGeom prst="rect">
            <a:avLst/>
          </a:prstGeom>
          <a:gradFill>
            <a:gsLst>
              <a:gs pos="0">
                <a:srgbClr val="FF6B35">
                  <a:alpha val="16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762000" y="704850"/>
            <a:ext cx="571500" cy="76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62000" y="6134100"/>
            <a:ext cx="942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AA1B8"/>
                </a:solidFill>
                <a:latin typeface="Inter"/>
                <a:ea typeface="Inter"/>
              </a:rPr>
              <a:t>初赛方案</a:t>
            </a:r>
            <a:r>
              <a:rPr lang="en-US" sz="1200">
                <a:solidFill>
                  <a:srgbClr val="9AA1B8"/>
                </a:solidFill>
                <a:latin typeface="Inter"/>
                <a:ea typeface="Inter"/>
              </a:rPr>
              <a:t> v1.0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2047875" y="6153150"/>
            <a:ext cx="9525" cy="152400"/>
          </a:xfrm>
          <a:prstGeom prst="rect">
            <a:avLst/>
          </a:prstGeom>
          <a:solidFill>
            <a:srgbClr val="3A4068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2400300" y="6134100"/>
            <a:ext cx="552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AA1B8"/>
                </a:solidFill>
                <a:latin typeface="Inter"/>
                <a:ea typeface="Inter"/>
              </a:rPr>
              <a:t>2026.08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3295650" y="6153150"/>
            <a:ext cx="9525" cy="152400"/>
          </a:xfrm>
          <a:prstGeom prst="rect">
            <a:avLst/>
          </a:prstGeom>
          <a:solidFill>
            <a:srgbClr val="3A4068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3648075" y="6134100"/>
            <a:ext cx="1323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AA1B8"/>
                </a:solidFill>
                <a:latin typeface="Inter"/>
                <a:ea typeface="Inter"/>
              </a:rPr>
              <a:t>Apache-2.0 · v0.3.1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09" name="" descr="&lt;Slide style={{ width:'1280px', height:'720px', background:'#FFFFFF', padding:'24px 64px 40px', display:'flex', flexDirection:'column' }}&gt;&#10;  &lt;Box style={{ display:'flex', alignItems:'center', gap:14, height:64 }}&gt;&#10;    &lt;Box style={{ width:8, height:34, background:'#FF6B35', borderRadius:4 }} /&gt;&#10;    &lt;Text style={{ fontSize:30, fontWeight:'bold', color:'#1B1F3B', fontFamily:'PingFang SC' }}&gt;一页纸速览&lt;/Text&gt;&#10;    &lt;Text style={{ fontSize:15, color:'#9AA1B8', fontFamily:'Inter', marginLeft:8 }}&gt;P0 · One-Pager&lt;/Text&gt;&#10;  &lt;/Box&gt;&#10;  &lt;Box style={{ display:'flex', flexWrap:'wrap', gap:20, marginTop:18 }}&gt;&#10;    {[&#10;      { ic:'bullseye', t:'一句话定位', b:'AgentTeams 的第四种 Worker Runtime，让 AI 研发交付从“自己说完成”变成“被独立验证过”。' },&#10;      { ic:'exclamation-circle', t:'核心问题', b:'多 Agent 并行改同一代码库，缺工作区隔离、独立验证、证据留痕与回滚能力，完成不可证明。' },&#10;      { ic:'cogs', t:'核心方案', b:'以 AgentTeams 为协同治理平面，LoopDesk 作可插拔 Worker Runtime 承载长程执行 + 独立 Verifier + 证据链 + 人工门禁。' },&#10;      { ic:'lightbulb', t:'创新点', b:'独立验证三重工程强制（上下文隔离／权限隔离／证据锚定），补齐 AgentTeams 官方声明不做的运行时可靠性层。' },&#10;      { ic:'share-alt', t:'复用价值', b:'Runtime 适配层 / Receipt Schema / 7 个新 Skill / 自举回归集全部 Apache-2.0 开放，任意 AgentTeams 团队可 import 复用。' },&#10;      { ic:'rocket', t:'当前进展', b:'LoopDesk v0.3.1 已发布可运行：62 个 Skill、625 个测试、Trace 回放、权限矩阵、human gate、worktree 隔离均已实现。' },&#10;    ].map((c, i) =&gt; (&#10;      &lt;Box key={i} style={{ width:368, height:248, background:'#F5F7FB', borderLeft:'5px solid #FF6B35', borderRadius:'0 12px 12px 0', padding:'22px 24px', display:'flex', flexDirection:'column' }}&gt;&#10;        &lt;Box style={{ display:'flex', alignItems:'center', gap:12 }}&gt;&#10;          &lt;Box style={{ width:42, height:42, borderRadius:11, background:'#FFEDE4', justifyContent:'center', alignItems:'center' }}&gt;&#10;            &lt;FAIcon name={c.ic} style={{ fill:'#FF6B35', width:22, height:22 }} /&gt;&#10;          &lt;/Box&gt;&#10;          &lt;Text style={{ fontSize:21, fontWeight:'bold', color:'#1B1F3B', fontFamily:'PingFang SC' }}&gt;{c.t}&lt;/Text&gt;&#10;        &lt;/Box&gt;&#10;        &lt;Text style={{ fontSize:17, color:'#4A5168', lineHeight:1.65, marginTop:14, fontFamily:'PingFang SC' }}&gt;{c.b}&lt;/Text&gt;&#10;      &lt;/Box&gt;&#10;    ))}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609600" y="371475"/>
            <a:ext cx="76200" cy="3238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819150" y="36195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B1F3B"/>
                </a:solidFill>
                <a:latin typeface="PingFang SC"/>
                <a:ea typeface="PingFang SC"/>
              </a:rPr>
              <a:t>一页纸速览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2457450" y="44767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AA1B8"/>
                </a:solidFill>
                <a:latin typeface="Inter"/>
                <a:ea typeface="Inter"/>
              </a:rPr>
              <a:t>P0 · One-Pager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657225" y="1009650"/>
            <a:ext cx="3457575" cy="2362200"/>
          </a:xfrm>
          <a:custGeom>
            <a:pathLst>
              <a:path w="363" h="248">
                <a:moveTo>
                  <a:pt x="0" y="0"/>
                </a:moveTo>
                <a:lnTo>
                  <a:pt x="351" y="0"/>
                </a:lnTo>
                <a:cubicBezTo>
                  <a:pt x="358" y="0"/>
                  <a:pt x="363" y="5"/>
                  <a:pt x="363" y="12"/>
                </a:cubicBezTo>
                <a:lnTo>
                  <a:pt x="363" y="236"/>
                </a:lnTo>
                <a:cubicBezTo>
                  <a:pt x="363" y="243"/>
                  <a:pt x="358" y="248"/>
                  <a:pt x="351" y="248"/>
                </a:cubicBezTo>
                <a:lnTo>
                  <a:pt x="0" y="248"/>
                </a:lnTo>
                <a:lnTo>
                  <a:pt x="0" y="24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315" name=""/>
          <p:cNvSpPr/>
          <p:nvPr/>
        </p:nvSpPr>
        <p:spPr>
          <a:xfrm rot="0" flipH="0" flipV="0">
            <a:off x="657225" y="1009650"/>
            <a:ext cx="3457575" cy="2362200"/>
          </a:xfrm>
          <a:custGeom>
            <a:pathLst>
              <a:path w="363" h="248">
                <a:moveTo>
                  <a:pt x="5" y="248"/>
                </a:moveTo>
                <a:lnTo>
                  <a:pt x="0" y="248"/>
                </a:lnTo>
                <a:lnTo>
                  <a:pt x="0" y="0"/>
                </a:lnTo>
                <a:lnTo>
                  <a:pt x="5" y="0"/>
                </a:ln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316" name=""/>
          <p:cNvSpPr/>
          <p:nvPr/>
        </p:nvSpPr>
        <p:spPr>
          <a:xfrm rot="0" flipH="0" flipV="0">
            <a:off x="885825" y="121920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FFEDE4"/>
          </a:solidFill>
          <a:ln/>
        </p:spPr>
        <p:txBody>
          <a:bodyPr/>
          <a:p/>
        </p:txBody>
      </p:sp>
      <p:pic>
        <p:nvPicPr>
          <p:cNvPr id="3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1314450"/>
            <a:ext cx="209550" cy="209550"/>
          </a:xfrm>
          <a:prstGeom prst="rect">
            <a:avLst/>
          </a:prstGeom>
          <a:ln/>
        </p:spPr>
      </p:pic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400175" y="1295400"/>
            <a:ext cx="1000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一句话定位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885825" y="1752600"/>
            <a:ext cx="30003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AgentTeams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的第四种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 Worker Runtime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，让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 AI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研发交付从“自己说完成”变成“被独立验证过”。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4352925" y="1009650"/>
            <a:ext cx="3457575" cy="2362200"/>
          </a:xfrm>
          <a:custGeom>
            <a:pathLst>
              <a:path w="363" h="248">
                <a:moveTo>
                  <a:pt x="0" y="0"/>
                </a:moveTo>
                <a:lnTo>
                  <a:pt x="351" y="0"/>
                </a:lnTo>
                <a:cubicBezTo>
                  <a:pt x="358" y="0"/>
                  <a:pt x="363" y="5"/>
                  <a:pt x="363" y="12"/>
                </a:cubicBezTo>
                <a:lnTo>
                  <a:pt x="363" y="236"/>
                </a:lnTo>
                <a:cubicBezTo>
                  <a:pt x="363" y="243"/>
                  <a:pt x="358" y="248"/>
                  <a:pt x="351" y="248"/>
                </a:cubicBezTo>
                <a:lnTo>
                  <a:pt x="0" y="248"/>
                </a:lnTo>
                <a:lnTo>
                  <a:pt x="0" y="24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4352925" y="1009650"/>
            <a:ext cx="3457575" cy="2362200"/>
          </a:xfrm>
          <a:custGeom>
            <a:pathLst>
              <a:path w="363" h="248">
                <a:moveTo>
                  <a:pt x="5" y="248"/>
                </a:moveTo>
                <a:lnTo>
                  <a:pt x="0" y="248"/>
                </a:lnTo>
                <a:lnTo>
                  <a:pt x="0" y="0"/>
                </a:lnTo>
                <a:lnTo>
                  <a:pt x="5" y="0"/>
                </a:ln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4581525" y="121920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FFEDE4"/>
          </a:solidFill>
          <a:ln/>
        </p:spPr>
        <p:txBody>
          <a:bodyPr/>
          <a:p/>
        </p:txBody>
      </p:sp>
      <p:pic>
        <p:nvPicPr>
          <p:cNvPr id="3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76775" y="1314450"/>
            <a:ext cx="209550" cy="209550"/>
          </a:xfrm>
          <a:prstGeom prst="rect">
            <a:avLst/>
          </a:prstGeom>
          <a:ln/>
        </p:spPr>
      </p:pic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5095875" y="1295400"/>
            <a:ext cx="80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核心问题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581525" y="1752600"/>
            <a:ext cx="30003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多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 Agent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并行改同一代码库，缺工作区隔离、独立验证、证据留痕与回滚能力，完成不可证明。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8048625" y="1009650"/>
            <a:ext cx="3457575" cy="2362200"/>
          </a:xfrm>
          <a:custGeom>
            <a:pathLst>
              <a:path w="363" h="248">
                <a:moveTo>
                  <a:pt x="0" y="0"/>
                </a:moveTo>
                <a:lnTo>
                  <a:pt x="351" y="0"/>
                </a:lnTo>
                <a:cubicBezTo>
                  <a:pt x="358" y="0"/>
                  <a:pt x="363" y="5"/>
                  <a:pt x="363" y="12"/>
                </a:cubicBezTo>
                <a:lnTo>
                  <a:pt x="363" y="236"/>
                </a:lnTo>
                <a:cubicBezTo>
                  <a:pt x="363" y="243"/>
                  <a:pt x="358" y="248"/>
                  <a:pt x="351" y="248"/>
                </a:cubicBezTo>
                <a:lnTo>
                  <a:pt x="0" y="248"/>
                </a:lnTo>
                <a:lnTo>
                  <a:pt x="0" y="24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8048625" y="1009650"/>
            <a:ext cx="3457575" cy="2362200"/>
          </a:xfrm>
          <a:custGeom>
            <a:pathLst>
              <a:path w="363" h="248">
                <a:moveTo>
                  <a:pt x="5" y="248"/>
                </a:moveTo>
                <a:lnTo>
                  <a:pt x="0" y="248"/>
                </a:lnTo>
                <a:lnTo>
                  <a:pt x="0" y="0"/>
                </a:lnTo>
                <a:lnTo>
                  <a:pt x="5" y="0"/>
                </a:ln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8277225" y="121920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FFEDE4"/>
          </a:solidFill>
          <a:ln/>
        </p:spPr>
        <p:txBody>
          <a:bodyPr/>
          <a:p/>
        </p:txBody>
      </p:sp>
      <p:pic>
        <p:nvPicPr>
          <p:cNvPr id="3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72475" y="1314450"/>
            <a:ext cx="209550" cy="209550"/>
          </a:xfrm>
          <a:prstGeom prst="rect">
            <a:avLst/>
          </a:prstGeom>
          <a:ln/>
        </p:spPr>
      </p:pic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791575" y="1295400"/>
            <a:ext cx="80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核心方案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277225" y="1752600"/>
            <a:ext cx="3000375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以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 AgentTeams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为协同治理平面，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LoopDesk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作可插拔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 Worker Runtime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承载长程执行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 +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独立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 Verifier +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证据链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 +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人工门禁。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57225" y="3562350"/>
            <a:ext cx="3457575" cy="2362200"/>
          </a:xfrm>
          <a:custGeom>
            <a:pathLst>
              <a:path w="363" h="248">
                <a:moveTo>
                  <a:pt x="0" y="0"/>
                </a:moveTo>
                <a:lnTo>
                  <a:pt x="351" y="0"/>
                </a:lnTo>
                <a:cubicBezTo>
                  <a:pt x="358" y="0"/>
                  <a:pt x="363" y="5"/>
                  <a:pt x="363" y="12"/>
                </a:cubicBezTo>
                <a:lnTo>
                  <a:pt x="363" y="236"/>
                </a:lnTo>
                <a:cubicBezTo>
                  <a:pt x="363" y="243"/>
                  <a:pt x="358" y="248"/>
                  <a:pt x="351" y="248"/>
                </a:cubicBezTo>
                <a:lnTo>
                  <a:pt x="0" y="248"/>
                </a:lnTo>
                <a:lnTo>
                  <a:pt x="0" y="24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657225" y="3562350"/>
            <a:ext cx="3457575" cy="2362200"/>
          </a:xfrm>
          <a:custGeom>
            <a:pathLst>
              <a:path w="363" h="248">
                <a:moveTo>
                  <a:pt x="5" y="248"/>
                </a:moveTo>
                <a:lnTo>
                  <a:pt x="0" y="248"/>
                </a:lnTo>
                <a:lnTo>
                  <a:pt x="0" y="0"/>
                </a:lnTo>
                <a:lnTo>
                  <a:pt x="5" y="0"/>
                </a:ln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885825" y="377190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FFEDE4"/>
          </a:solidFill>
          <a:ln/>
        </p:spPr>
        <p:txBody>
          <a:bodyPr/>
          <a:p/>
        </p:txBody>
      </p:sp>
      <p:pic>
        <p:nvPicPr>
          <p:cNvPr id="3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81075" y="3867150"/>
            <a:ext cx="209550" cy="209550"/>
          </a:xfrm>
          <a:prstGeom prst="rect">
            <a:avLst/>
          </a:prstGeom>
          <a:ln/>
        </p:spPr>
      </p:pic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1400175" y="3848100"/>
            <a:ext cx="6000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创新点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885825" y="4305300"/>
            <a:ext cx="30003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独立验证三重工程强制（上下文隔离／权限隔离／证据锚定），补齐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 AgentTeams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官方声明不做的运行时可靠性层。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4352925" y="3562350"/>
            <a:ext cx="3457575" cy="2362200"/>
          </a:xfrm>
          <a:custGeom>
            <a:pathLst>
              <a:path w="363" h="248">
                <a:moveTo>
                  <a:pt x="0" y="0"/>
                </a:moveTo>
                <a:lnTo>
                  <a:pt x="351" y="0"/>
                </a:lnTo>
                <a:cubicBezTo>
                  <a:pt x="358" y="0"/>
                  <a:pt x="363" y="5"/>
                  <a:pt x="363" y="12"/>
                </a:cubicBezTo>
                <a:lnTo>
                  <a:pt x="363" y="236"/>
                </a:lnTo>
                <a:cubicBezTo>
                  <a:pt x="363" y="243"/>
                  <a:pt x="358" y="248"/>
                  <a:pt x="351" y="248"/>
                </a:cubicBezTo>
                <a:lnTo>
                  <a:pt x="0" y="248"/>
                </a:lnTo>
                <a:lnTo>
                  <a:pt x="0" y="24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4352925" y="3562350"/>
            <a:ext cx="3457575" cy="2362200"/>
          </a:xfrm>
          <a:custGeom>
            <a:pathLst>
              <a:path w="363" h="248">
                <a:moveTo>
                  <a:pt x="5" y="248"/>
                </a:moveTo>
                <a:lnTo>
                  <a:pt x="0" y="248"/>
                </a:lnTo>
                <a:lnTo>
                  <a:pt x="0" y="0"/>
                </a:lnTo>
                <a:lnTo>
                  <a:pt x="5" y="0"/>
                </a:ln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4581525" y="377190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FFEDE4"/>
          </a:solidFill>
          <a:ln/>
        </p:spPr>
        <p:txBody>
          <a:bodyPr/>
          <a:p/>
        </p:txBody>
      </p:sp>
      <p:pic>
        <p:nvPicPr>
          <p:cNvPr id="3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676775" y="3867150"/>
            <a:ext cx="209550" cy="209550"/>
          </a:xfrm>
          <a:prstGeom prst="rect">
            <a:avLst/>
          </a:prstGeom>
          <a:ln/>
        </p:spPr>
      </p:pic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5095875" y="3848100"/>
            <a:ext cx="80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复用价值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581525" y="4305300"/>
            <a:ext cx="3000375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Runtime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适配层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 / Receipt Schema / 7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个新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 Skill /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自举回归集全部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 Apache-2.0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开放，任意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 AgentTeams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团队可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 import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复用。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8048625" y="3562350"/>
            <a:ext cx="3457575" cy="2362200"/>
          </a:xfrm>
          <a:custGeom>
            <a:pathLst>
              <a:path w="363" h="248">
                <a:moveTo>
                  <a:pt x="0" y="0"/>
                </a:moveTo>
                <a:lnTo>
                  <a:pt x="351" y="0"/>
                </a:lnTo>
                <a:cubicBezTo>
                  <a:pt x="358" y="0"/>
                  <a:pt x="363" y="5"/>
                  <a:pt x="363" y="12"/>
                </a:cubicBezTo>
                <a:lnTo>
                  <a:pt x="363" y="236"/>
                </a:lnTo>
                <a:cubicBezTo>
                  <a:pt x="363" y="243"/>
                  <a:pt x="358" y="248"/>
                  <a:pt x="351" y="248"/>
                </a:cubicBezTo>
                <a:lnTo>
                  <a:pt x="0" y="248"/>
                </a:lnTo>
                <a:lnTo>
                  <a:pt x="0" y="24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8048625" y="3562350"/>
            <a:ext cx="3457575" cy="2362200"/>
          </a:xfrm>
          <a:custGeom>
            <a:pathLst>
              <a:path w="363" h="248">
                <a:moveTo>
                  <a:pt x="5" y="248"/>
                </a:moveTo>
                <a:lnTo>
                  <a:pt x="0" y="248"/>
                </a:lnTo>
                <a:lnTo>
                  <a:pt x="0" y="0"/>
                </a:lnTo>
                <a:lnTo>
                  <a:pt x="5" y="0"/>
                </a:ln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8277225" y="377190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FFEDE4"/>
          </a:solidFill>
          <a:ln/>
        </p:spPr>
        <p:txBody>
          <a:bodyPr/>
          <a:p/>
        </p:txBody>
      </p:sp>
      <p:pic>
        <p:nvPicPr>
          <p:cNvPr id="3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372475" y="3867150"/>
            <a:ext cx="209550" cy="209550"/>
          </a:xfrm>
          <a:prstGeom prst="rect">
            <a:avLst/>
          </a:prstGeom>
          <a:ln/>
        </p:spPr>
      </p:pic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8791575" y="3848100"/>
            <a:ext cx="80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当前进展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8277225" y="4305300"/>
            <a:ext cx="3000375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LoopDesk v0.3.1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已发布可运行：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62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个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 Skill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、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625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个测试、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Trace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回放、权限矩阵、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human gate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、</a:t>
            </a:r>
            <a:r>
              <a:rPr lang="en-US" sz="1275">
                <a:solidFill>
                  <a:srgbClr val="4A5168"/>
                </a:solidFill>
                <a:latin typeface="PingFang SC"/>
                <a:ea typeface="PingFang SC"/>
              </a:rPr>
              <a:t>worktree </a:t>
            </a:r>
            <a:r>
              <a:rPr lang="zh-CN" sz="1275">
                <a:solidFill>
                  <a:srgbClr val="4A5168"/>
                </a:solidFill>
                <a:latin typeface="PingFang SC"/>
                <a:ea typeface="PingFang SC"/>
              </a:rPr>
              <a:t>隔离均已实现。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350" name="" descr="&lt;Slide style={{ width:'1280px', height:'720px', background:'#FFFFFF', padding:'24px 64px 40px', display:'flex', flexDirection:'column' }}&gt;&#10;  &lt;Box style={{ display:'flex', alignItems:'center', gap:14, height:64 }}&gt;&#10;    &lt;Box style={{ width:8, height:34, background:'#FF6B35', borderRadius:4 }} /&gt;&#10;    &lt;Text style={{ fontSize:30, fontWeight:'bold', color:'#1B1F3B', fontFamily:'PingFang SC' }}&gt;目录&lt;/Text&gt;&#10;    &lt;Text style={{ fontSize:15, color:'#9AA1B8', fontFamily:'Inter', marginLeft:8 }}&gt;Contents · 八章&lt;/Text&gt;&#10;  &lt;/Box&gt;&#10;  &lt;Box style={{ display:'flex', flexWrap:'wrap', gap:18, marginTop:18 }}&gt;&#10;    {[&#10;      { n:'01', t:'场景与价值', d:'选题来源与核心洞察：AI 交付是“自报告”的', w:'25%' },&#10;      { n:'02', t:'方案总览', d:'分层架构与关键技术选型必要性', w:'' },&#10;      { n:'03', t:'多 Agent 协同设计', d:'4 职能 Agent + 1 人类，独立验证闭环', w:'25%' },&#10;      { n:'04', t:'Skill 工程体系', d:'三层 Skill 体系与 7 个新建核心 Skill', w:'' },&#10;      { n:'05', t:'工程落地 · 安全可审计', d:'可观测 / 安全治理 / 运行验证证据', w:'25%' },&#10;      { n:'06', t:'开放 / 开源计划', d:'开源范围、依赖披露与迁移成本', w:'' },&#10;      { n:'07', t:'落地计划与进展', d:'当前进展、复赛里程碑 M1–M4 与风险', w:'25%' },&#10;      { n:'08', t:'团队介绍', d:'参赛团队与分工', w:'' },&#10;    ].map((c, i) =&gt; (&#10;      &lt;Box key={i} style={{ width: i%2===0?560:560, height:118, background:'#F5F7FB', borderRadius:12, padding:'18px 24px', display:'flex', alignItems:'center', gap:20 }}&gt;&#10;        &lt;Text style={{ fontSize:42, fontWeight:'bold', color:'#FF6B35', fontFamily:'Inter', width:64 }}&gt;{c.n}&lt;/Text&gt;&#10;        &lt;Box style={{ width:1, height:54, background:'#E2E6EF' }} /&gt;&#10;        &lt;Box style={{ flex:1 }}&gt;&#10;          &lt;Text style={{ fontSize:21, fontWeight:'bold', color:'#1B1F3B', fontFamily:'PingFang SC' }}&gt;{c.t}{c.w &amp;&amp; &lt;Text style={{ fontSize:14, color:'#FF6B35', fontFamily:'Inter' }}&gt;　{c.w}&lt;/Text&gt;}&lt;/Text&gt;&#10;          &lt;Text style={{ fontSize:15, color:'#6B7280', marginTop:6, fontFamily:'PingFang SC' }}&gt;{c.d}&lt;/Text&gt;&#10;        &lt;/Box&gt;&#10;      &lt;/Box&gt;&#10;    ))}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609600" y="371475"/>
            <a:ext cx="76200" cy="3238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19150" y="361950"/>
            <a:ext cx="571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B1F3B"/>
                </a:solidFill>
                <a:latin typeface="PingFang SC"/>
                <a:ea typeface="PingFang SC"/>
              </a:rPr>
              <a:t>目录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600200" y="447675"/>
            <a:ext cx="981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AA1B8"/>
                </a:solidFill>
                <a:latin typeface="Inter"/>
                <a:ea typeface="Inter"/>
              </a:rPr>
              <a:t>Contents · </a:t>
            </a:r>
            <a:r>
              <a:rPr lang="zh-CN" sz="1125">
                <a:solidFill>
                  <a:srgbClr val="9AA1B8"/>
                </a:solidFill>
                <a:latin typeface="Inter"/>
                <a:ea typeface="Inter"/>
              </a:rPr>
              <a:t>八章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609600" y="1009650"/>
            <a:ext cx="5334000" cy="1123950"/>
          </a:xfrm>
          <a:prstGeom prst="roundRect">
            <a:avLst>
              <a:gd name="adj" fmla="val 10169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38200" y="1333500"/>
            <a:ext cx="6096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F6B35"/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1638300" y="1314450"/>
            <a:ext cx="9525" cy="514350"/>
          </a:xfrm>
          <a:prstGeom prst="rect">
            <a:avLst/>
          </a:prstGeom>
          <a:solidFill>
            <a:srgbClr val="E2E6EF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838325" y="1333500"/>
            <a:ext cx="38766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场景与价值</a:t>
            </a: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　</a:t>
            </a:r>
            <a:r>
              <a:rPr lang="en-US" sz="1575" b="1">
                <a:solidFill>
                  <a:srgbClr val="1B1F3B"/>
                </a:solidFill>
                <a:latin typeface="PingFang SC"/>
                <a:ea typeface="PingFang SC"/>
              </a:rPr>
              <a:t>25%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1838325" y="1638300"/>
            <a:ext cx="3876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PingFang SC"/>
                <a:ea typeface="PingFang SC"/>
              </a:rPr>
              <a:t>选题来源与核心洞察：</a:t>
            </a:r>
            <a:r>
              <a:rPr lang="en-US" sz="1125">
                <a:solidFill>
                  <a:srgbClr val="6B7280"/>
                </a:solidFill>
                <a:latin typeface="PingFang SC"/>
                <a:ea typeface="PingFang SC"/>
              </a:rPr>
              <a:t>AI </a:t>
            </a:r>
            <a:r>
              <a:rPr lang="zh-CN" sz="1125">
                <a:solidFill>
                  <a:srgbClr val="6B7280"/>
                </a:solidFill>
                <a:latin typeface="PingFang SC"/>
                <a:ea typeface="PingFang SC"/>
              </a:rPr>
              <a:t>交付是“自报告”的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6115050" y="1009650"/>
            <a:ext cx="5334000" cy="1123950"/>
          </a:xfrm>
          <a:prstGeom prst="roundRect">
            <a:avLst>
              <a:gd name="adj" fmla="val 10169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343650" y="1333500"/>
            <a:ext cx="6096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F6B35"/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7143750" y="1314450"/>
            <a:ext cx="9525" cy="514350"/>
          </a:xfrm>
          <a:prstGeom prst="rect">
            <a:avLst/>
          </a:prstGeom>
          <a:solidFill>
            <a:srgbClr val="E2E6EF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7343775" y="1333500"/>
            <a:ext cx="38766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方案总览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343775" y="1638300"/>
            <a:ext cx="3876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PingFang SC"/>
                <a:ea typeface="PingFang SC"/>
              </a:rPr>
              <a:t>分层架构与关键技术选型必要性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609600" y="2305050"/>
            <a:ext cx="5334000" cy="1123950"/>
          </a:xfrm>
          <a:prstGeom prst="roundRect">
            <a:avLst>
              <a:gd name="adj" fmla="val 10169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838200" y="2628900"/>
            <a:ext cx="6096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F6B35"/>
                </a:solidFill>
                <a:latin typeface="Inter"/>
                <a:ea typeface="Inter"/>
              </a:rPr>
              <a:t>03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1638300" y="2609850"/>
            <a:ext cx="9525" cy="514350"/>
          </a:xfrm>
          <a:prstGeom prst="rect">
            <a:avLst/>
          </a:prstGeom>
          <a:solidFill>
            <a:srgbClr val="E2E6EF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838325" y="2628900"/>
            <a:ext cx="38766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多</a:t>
            </a:r>
            <a:r>
              <a:rPr lang="en-US" sz="1575" b="1">
                <a:solidFill>
                  <a:srgbClr val="1B1F3B"/>
                </a:solidFill>
                <a:latin typeface="PingFang SC"/>
                <a:ea typeface="PingFang SC"/>
              </a:rPr>
              <a:t> Agent </a:t>
            </a: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协同设计</a:t>
            </a: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　</a:t>
            </a:r>
            <a:r>
              <a:rPr lang="en-US" sz="1575" b="1">
                <a:solidFill>
                  <a:srgbClr val="1B1F3B"/>
                </a:solidFill>
                <a:latin typeface="PingFang SC"/>
                <a:ea typeface="PingFang SC"/>
              </a:rPr>
              <a:t>25%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1838325" y="2933700"/>
            <a:ext cx="3876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280"/>
                </a:solidFill>
                <a:latin typeface="PingFang SC"/>
                <a:ea typeface="PingFang SC"/>
              </a:rPr>
              <a:t>4 </a:t>
            </a:r>
            <a:r>
              <a:rPr lang="zh-CN" sz="1125">
                <a:solidFill>
                  <a:srgbClr val="6B7280"/>
                </a:solidFill>
                <a:latin typeface="PingFang SC"/>
                <a:ea typeface="PingFang SC"/>
              </a:rPr>
              <a:t>职能</a:t>
            </a:r>
            <a:r>
              <a:rPr lang="en-US" sz="1125">
                <a:solidFill>
                  <a:srgbClr val="6B7280"/>
                </a:solidFill>
                <a:latin typeface="PingFang SC"/>
                <a:ea typeface="PingFang SC"/>
              </a:rPr>
              <a:t> Agent + 1 </a:t>
            </a:r>
            <a:r>
              <a:rPr lang="zh-CN" sz="1125">
                <a:solidFill>
                  <a:srgbClr val="6B7280"/>
                </a:solidFill>
                <a:latin typeface="PingFang SC"/>
                <a:ea typeface="PingFang SC"/>
              </a:rPr>
              <a:t>人类，独立验证闭环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115050" y="2305050"/>
            <a:ext cx="5334000" cy="1123950"/>
          </a:xfrm>
          <a:prstGeom prst="roundRect">
            <a:avLst>
              <a:gd name="adj" fmla="val 10169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343650" y="2628900"/>
            <a:ext cx="6096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F6B35"/>
                </a:solidFill>
                <a:latin typeface="Inter"/>
                <a:ea typeface="Inter"/>
              </a:rPr>
              <a:t>04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7143750" y="2609850"/>
            <a:ext cx="9525" cy="514350"/>
          </a:xfrm>
          <a:prstGeom prst="rect">
            <a:avLst/>
          </a:prstGeom>
          <a:solidFill>
            <a:srgbClr val="E2E6EF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7343775" y="2628900"/>
            <a:ext cx="38766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B1F3B"/>
                </a:solidFill>
                <a:latin typeface="PingFang SC"/>
                <a:ea typeface="PingFang SC"/>
              </a:rPr>
              <a:t>Skill </a:t>
            </a: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工程体系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7343775" y="2933700"/>
            <a:ext cx="3876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PingFang SC"/>
                <a:ea typeface="PingFang SC"/>
              </a:rPr>
              <a:t>三层</a:t>
            </a:r>
            <a:r>
              <a:rPr lang="en-US" sz="1125">
                <a:solidFill>
                  <a:srgbClr val="6B7280"/>
                </a:solidFill>
                <a:latin typeface="PingFang SC"/>
                <a:ea typeface="PingFang SC"/>
              </a:rPr>
              <a:t> Skill </a:t>
            </a:r>
            <a:r>
              <a:rPr lang="zh-CN" sz="1125">
                <a:solidFill>
                  <a:srgbClr val="6B7280"/>
                </a:solidFill>
                <a:latin typeface="PingFang SC"/>
                <a:ea typeface="PingFang SC"/>
              </a:rPr>
              <a:t>体系与</a:t>
            </a:r>
            <a:r>
              <a:rPr lang="en-US" sz="1125">
                <a:solidFill>
                  <a:srgbClr val="6B7280"/>
                </a:solidFill>
                <a:latin typeface="PingFang SC"/>
                <a:ea typeface="PingFang SC"/>
              </a:rPr>
              <a:t> 7 </a:t>
            </a:r>
            <a:r>
              <a:rPr lang="zh-CN" sz="1125">
                <a:solidFill>
                  <a:srgbClr val="6B7280"/>
                </a:solidFill>
                <a:latin typeface="PingFang SC"/>
                <a:ea typeface="PingFang SC"/>
              </a:rPr>
              <a:t>个新建核心</a:t>
            </a:r>
            <a:r>
              <a:rPr lang="en-US" sz="1125">
                <a:solidFill>
                  <a:srgbClr val="6B7280"/>
                </a:solidFill>
                <a:latin typeface="PingFang SC"/>
                <a:ea typeface="PingFang SC"/>
              </a:rPr>
              <a:t> Skill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09600" y="3600450"/>
            <a:ext cx="5334000" cy="1123950"/>
          </a:xfrm>
          <a:prstGeom prst="roundRect">
            <a:avLst>
              <a:gd name="adj" fmla="val 10169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838200" y="3924300"/>
            <a:ext cx="6096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F6B35"/>
                </a:solidFill>
                <a:latin typeface="Inter"/>
                <a:ea typeface="Inter"/>
              </a:rPr>
              <a:t>05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1638300" y="3905250"/>
            <a:ext cx="9525" cy="514350"/>
          </a:xfrm>
          <a:prstGeom prst="rect">
            <a:avLst/>
          </a:prstGeom>
          <a:solidFill>
            <a:srgbClr val="E2E6EF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1838325" y="3924300"/>
            <a:ext cx="38766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工程落地</a:t>
            </a:r>
            <a:r>
              <a:rPr lang="en-US" sz="1575" b="1">
                <a:solidFill>
                  <a:srgbClr val="1B1F3B"/>
                </a:solidFill>
                <a:latin typeface="PingFang SC"/>
                <a:ea typeface="PingFang SC"/>
              </a:rPr>
              <a:t> · </a:t>
            </a: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安全可审计</a:t>
            </a: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　</a:t>
            </a:r>
            <a:r>
              <a:rPr lang="en-US" sz="1575" b="1">
                <a:solidFill>
                  <a:srgbClr val="1B1F3B"/>
                </a:solidFill>
                <a:latin typeface="PingFang SC"/>
                <a:ea typeface="PingFang SC"/>
              </a:rPr>
              <a:t>25%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1838325" y="4229100"/>
            <a:ext cx="3876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PingFang SC"/>
                <a:ea typeface="PingFang SC"/>
              </a:rPr>
              <a:t>可观测</a:t>
            </a:r>
            <a:r>
              <a:rPr lang="en-US" sz="1125">
                <a:solidFill>
                  <a:srgbClr val="6B7280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6B7280"/>
                </a:solidFill>
                <a:latin typeface="PingFang SC"/>
                <a:ea typeface="PingFang SC"/>
              </a:rPr>
              <a:t>安全治理</a:t>
            </a:r>
            <a:r>
              <a:rPr lang="en-US" sz="1125">
                <a:solidFill>
                  <a:srgbClr val="6B7280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6B7280"/>
                </a:solidFill>
                <a:latin typeface="PingFang SC"/>
                <a:ea typeface="PingFang SC"/>
              </a:rPr>
              <a:t>运行验证证据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6115050" y="3600450"/>
            <a:ext cx="5334000" cy="1123950"/>
          </a:xfrm>
          <a:prstGeom prst="roundRect">
            <a:avLst>
              <a:gd name="adj" fmla="val 10169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343650" y="3924300"/>
            <a:ext cx="6096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F6B35"/>
                </a:solidFill>
                <a:latin typeface="Inter"/>
                <a:ea typeface="Inter"/>
              </a:rPr>
              <a:t>06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7143750" y="3905250"/>
            <a:ext cx="9525" cy="514350"/>
          </a:xfrm>
          <a:prstGeom prst="rect">
            <a:avLst/>
          </a:prstGeom>
          <a:solidFill>
            <a:srgbClr val="E2E6EF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7343775" y="3924300"/>
            <a:ext cx="38766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开放</a:t>
            </a:r>
            <a:r>
              <a:rPr lang="en-US" sz="1575" b="1">
                <a:solidFill>
                  <a:srgbClr val="1B1F3B"/>
                </a:solidFill>
                <a:latin typeface="PingFang SC"/>
                <a:ea typeface="PingFang SC"/>
              </a:rPr>
              <a:t> / </a:t>
            </a: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开源计划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7343775" y="4229100"/>
            <a:ext cx="3876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PingFang SC"/>
                <a:ea typeface="PingFang SC"/>
              </a:rPr>
              <a:t>开源范围、依赖披露与迁移成本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609600" y="4895850"/>
            <a:ext cx="5334000" cy="1123950"/>
          </a:xfrm>
          <a:prstGeom prst="roundRect">
            <a:avLst>
              <a:gd name="adj" fmla="val 10169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38200" y="5219700"/>
            <a:ext cx="6096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F6B35"/>
                </a:solidFill>
                <a:latin typeface="Inter"/>
                <a:ea typeface="Inter"/>
              </a:rPr>
              <a:t>07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1638300" y="5200650"/>
            <a:ext cx="9525" cy="514350"/>
          </a:xfrm>
          <a:prstGeom prst="rect">
            <a:avLst/>
          </a:prstGeom>
          <a:solidFill>
            <a:srgbClr val="E2E6EF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1838325" y="5219700"/>
            <a:ext cx="38766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落地计划与进展</a:t>
            </a: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　</a:t>
            </a:r>
            <a:r>
              <a:rPr lang="en-US" sz="1575" b="1">
                <a:solidFill>
                  <a:srgbClr val="1B1F3B"/>
                </a:solidFill>
                <a:latin typeface="PingFang SC"/>
                <a:ea typeface="PingFang SC"/>
              </a:rPr>
              <a:t>25%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1838325" y="5524500"/>
            <a:ext cx="3876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PingFang SC"/>
                <a:ea typeface="PingFang SC"/>
              </a:rPr>
              <a:t>当前进展、复赛里程碑</a:t>
            </a:r>
            <a:r>
              <a:rPr lang="en-US" sz="1125">
                <a:solidFill>
                  <a:srgbClr val="6B7280"/>
                </a:solidFill>
                <a:latin typeface="PingFang SC"/>
                <a:ea typeface="PingFang SC"/>
              </a:rPr>
              <a:t> M1–M4 </a:t>
            </a:r>
            <a:r>
              <a:rPr lang="zh-CN" sz="1125">
                <a:solidFill>
                  <a:srgbClr val="6B7280"/>
                </a:solidFill>
                <a:latin typeface="PingFang SC"/>
                <a:ea typeface="PingFang SC"/>
              </a:rPr>
              <a:t>与风险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115050" y="4895850"/>
            <a:ext cx="5334000" cy="1123950"/>
          </a:xfrm>
          <a:prstGeom prst="roundRect">
            <a:avLst>
              <a:gd name="adj" fmla="val 10169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343650" y="5219700"/>
            <a:ext cx="6096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F6B35"/>
                </a:solidFill>
                <a:latin typeface="Inter"/>
                <a:ea typeface="Inter"/>
              </a:rPr>
              <a:t>08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7143750" y="5200650"/>
            <a:ext cx="9525" cy="514350"/>
          </a:xfrm>
          <a:prstGeom prst="rect">
            <a:avLst/>
          </a:prstGeom>
          <a:solidFill>
            <a:srgbClr val="E2E6EF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343775" y="5219700"/>
            <a:ext cx="38766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B1F3B"/>
                </a:solidFill>
                <a:latin typeface="PingFang SC"/>
                <a:ea typeface="PingFang SC"/>
              </a:rPr>
              <a:t>团队介绍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7343775" y="5524500"/>
            <a:ext cx="3876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PingFang SC"/>
                <a:ea typeface="PingFang SC"/>
              </a:rPr>
              <a:t>参赛团队与分工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395" name="" descr="&lt;Slide style={{ width:'1280px', height:'720px', background:'#1B1F3B', padding:'0', position:'relative', display:'flex', flexDirection:'column', justifyContent:'center', paddingLeft:110, overflow:'hidden' }}&gt;&#10;  &lt;Box style={{ position:'absolute', right:0, top:0, width:320, height:320, background:'linear-gradient(135deg,#FF6B35 0%, transparent 100%)', opacity:0.14 }} /&gt;&#10;  &lt;Text style={{ position:'absolute', top:70, left:90, fontSize:240, fontWeight:'bold', color:'#2A2F5B', fontFamily:'Inter', lineHeight:1, zIndex:0 }}&gt;01&lt;/Text&gt;&#10;  &lt;Box style={{ position:'relative', zIndex:1 }}&gt;&#10;    &lt;Box style={{ width:80, height:6, background:'#FF6B35', borderRadius:3, marginBottom:22 }} /&gt;&#10;    &lt;Text style={{ fontSize:48, fontWeight:'bold', color:'#FFFFFF', fontFamily:'PingFang SC' }}&gt;场景与价值&lt;/Text&gt;&#10;    &lt;Text style={{ fontSize:19, color:'#9AA1B8', marginTop:14, fontFamily:'Inter', letterSpacing:3 }}&gt;SCENARIO &amp;amp; VALUE · 评分权重 25%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1F3B"/>
          </a:solidFill>
          <a:ln/>
        </p:spPr>
        <p:txBody>
          <a:bodyPr/>
          <a:p/>
        </p:txBody>
      </p:sp>
      <p:sp>
        <p:nvSpPr>
          <p:cNvPr id="397" name=""/>
          <p:cNvSpPr/>
          <p:nvPr/>
        </p:nvSpPr>
        <p:spPr>
          <a:xfrm rot="0" flipH="0" flipV="0">
            <a:off x="9144000" y="0"/>
            <a:ext cx="3048000" cy="3048000"/>
          </a:xfrm>
          <a:prstGeom prst="rect">
            <a:avLst/>
          </a:prstGeom>
          <a:gradFill>
            <a:gsLst>
              <a:gs pos="0">
                <a:srgbClr val="FF6B35">
                  <a:alpha val="14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857250" y="666750"/>
            <a:ext cx="254317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2A2F5B"/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1047750" y="2847975"/>
            <a:ext cx="762000" cy="571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047750" y="3114675"/>
            <a:ext cx="111442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PingFang SC"/>
                <a:ea typeface="PingFang SC"/>
              </a:rPr>
              <a:t>场景与价值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047750" y="3800475"/>
            <a:ext cx="11144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225">
                <a:solidFill>
                  <a:srgbClr val="9AA1B8"/>
                </a:solidFill>
                <a:latin typeface="Inter"/>
                <a:ea typeface="Inter"/>
              </a:rPr>
              <a:t>SCENARIO &amp; VALUE · </a:t>
            </a:r>
            <a:r>
              <a:rPr lang="zh-CN" sz="1425" spc="225">
                <a:solidFill>
                  <a:srgbClr val="9AA1B8"/>
                </a:solidFill>
                <a:latin typeface="Inter"/>
                <a:ea typeface="Inter"/>
              </a:rPr>
              <a:t>评分权重</a:t>
            </a:r>
            <a:r>
              <a:rPr lang="en-US" sz="1425" spc="225">
                <a:solidFill>
                  <a:srgbClr val="9AA1B8"/>
                </a:solidFill>
                <a:latin typeface="Inter"/>
                <a:ea typeface="Inter"/>
              </a:rPr>
              <a:t> 25%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02" name="" descr="&lt;Slide style={{ width:'1280px', height:'720px', background:'#FFFFFF', padding:'24px 64px 40px', display:'flex', flexDirection:'column' }}&gt;&#10;  &lt;Box style={{ display:'flex', alignItems:'center', gap:14, height:64 }}&gt;&#10;    &lt;Box style={{ width:8, height:34, background:'#FF6B35', borderRadius:4 }} /&gt;&#10;    &lt;Text style={{ fontSize:30, fontWeight:'bold', color:'#1B1F3B', fontFamily:'PingFang SC' }}&gt;核心洞察：AI 交付是“自报告”的&lt;/Text&gt;&#10;  &lt;/Box&gt;&#10;  &lt;Box style={{ background:'#FFEDE4', borderRadius:12, padding:'16px 22px', display:'flex', alignItems:'center', gap:16, marginTop:8 }}&gt;&#10;    &lt;FAIcon name='comment-dots' style={{ fill:'#FF6B35', width:30, height:30 }} /&gt;&#10;    &lt;Text style={{ fontSize:17, color:'#5A3320', lineHeight:1.5, fontFamily:'PingFang SC' }}&gt;AgentTeams 官方示例：&lt;Text style={{ fontWeight:'bold' }}&gt;Alice: “Done. PR submitted”&lt;/Text&gt; —— 但&lt;Text style={{ fontWeight:'bold', color:'#FF6B35' }}&gt;没有任何机制能发现 Worker 错误地认为自己成功了&lt;/Text&gt;。这是组织设计问题，不是模型能力问题。&lt;/Text&gt;&#10;  &lt;/Box&gt;&#10;  &lt;Box style={{ display:'flex', gap:12, marginTop:18 }}&gt;&#10;    {[&#10;      { n:'1', t:'自报告交付', b:'Agent 的“完成”是自然语言断言，不可机器校验', s:'闭环·5 结果验证' },&#10;      { n:'2', t:'验证与执行同源', b:'让写代码的 Agent 判断自己写得对不对，等于考生批自己卷', s:'闭环·5 结果验证', hot:true },&#10;      { n:'3', t:'并行冲突', b:'多 Agent 改同一仓库，缺隔离与租约，互相覆盖', s:'闭环·3 上下文传递' },&#10;      { n:'4', t:'证据断链', b:'事后要回滚，查不到改了什么、依据什么决策', s:'闭环·6/7 证据/回滚' },&#10;      { n:'5', t:'经验不沉淀', b:'每任务从零开始，上次的坑下次照踩', s:'闭环·8 经验沉淀' },&#10;    ].map((c, i) =&gt; (&#10;      &lt;Box key={i} style={{ width:218, background: c.hot ? '#FFF4EE' : '#F5F7FB', borderTop: c.hot ? '4px solid #FF6B35' : '4px solid #2A2F5B', borderRadius:'0 0 12px 12px', padding:'16px 16px 18px', display:'flex', flexDirection:'column', height:316 }}&gt;&#10;        &lt;Box style={{ width:40, height:40, borderRadius:20, background:'#FF6B35', justifyContent:'center', alignItems:'center' }}&gt;&#10;          &lt;Text style={{ fontSize:20, fontWeight:'bold', color:'#FFFFFF', fontFamily:'Inter' }}&gt;{c.n}&lt;/Text&gt;&#10;        &lt;/Box&gt;&#10;        &lt;Text style={{ fontSize:19, fontWeight:'bold', color:'#1B1F3B', marginTop:12, fontFamily:'PingFang SC' }}&gt;{c.t}&lt;/Text&gt;&#10;        &lt;Text style={{ fontSize:14.5, color:'#4A5168', lineHeight:1.55, marginTop:8, fontFamily:'PingFang SC' }}&gt;{c.b}&lt;/Text&gt;&#10;        &lt;Box style={{ marginTop:'auto', background: c.hot ? '#FFE3D3' : '#E9EEFB', borderRadius:6, padding:'5px 8px' }}&gt;&#10;          &lt;Text style={{ fontSize:12.5, color:'#2A2F5B', fontFamily:'Inter' }}&gt;{c.s}&lt;/Text&gt;&#10;        &lt;/Box&gt;&#10;      &lt;/Box&gt;&#10;    ))}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4" name=""/>
          <p:cNvSpPr/>
          <p:nvPr/>
        </p:nvSpPr>
        <p:spPr>
          <a:xfrm rot="0" flipH="0" flipV="0">
            <a:off x="609600" y="371475"/>
            <a:ext cx="76200" cy="3238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19150" y="361950"/>
            <a:ext cx="41433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B1F3B"/>
                </a:solidFill>
                <a:latin typeface="PingFang SC"/>
                <a:ea typeface="PingFang SC"/>
              </a:rPr>
              <a:t>核心洞察：</a:t>
            </a:r>
            <a:r>
              <a:rPr lang="en-US" sz="2250" b="1">
                <a:solidFill>
                  <a:srgbClr val="1B1F3B"/>
                </a:solidFill>
                <a:latin typeface="PingFang SC"/>
                <a:ea typeface="PingFang SC"/>
              </a:rPr>
              <a:t>AI </a:t>
            </a:r>
            <a:r>
              <a:rPr lang="zh-CN" sz="2250" b="1">
                <a:solidFill>
                  <a:srgbClr val="1B1F3B"/>
                </a:solidFill>
                <a:latin typeface="PingFang SC"/>
                <a:ea typeface="PingFang SC"/>
              </a:rPr>
              <a:t>交付是“自报告”的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609600" y="914400"/>
            <a:ext cx="10972800" cy="895350"/>
          </a:xfrm>
          <a:prstGeom prst="roundRect">
            <a:avLst>
              <a:gd name="adj" fmla="val 12766"/>
            </a:avLst>
          </a:prstGeom>
          <a:solidFill>
            <a:srgbClr val="FFEDE4"/>
          </a:solidFill>
          <a:ln/>
        </p:spPr>
        <p:txBody>
          <a:bodyPr/>
          <a:p/>
        </p:txBody>
      </p:sp>
      <p:pic>
        <p:nvPicPr>
          <p:cNvPr id="4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1219200"/>
            <a:ext cx="285750" cy="285750"/>
          </a:xfrm>
          <a:prstGeom prst="rect">
            <a:avLst/>
          </a:prstGeom>
          <a:ln/>
        </p:spPr>
      </p:pic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247775" y="1066800"/>
            <a:ext cx="101250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5A3320"/>
                </a:solidFill>
                <a:latin typeface="PingFang SC"/>
                <a:ea typeface="PingFang SC"/>
              </a:rPr>
              <a:t>AgentTeams </a:t>
            </a:r>
            <a:r>
              <a:rPr lang="zh-CN" sz="1275">
                <a:solidFill>
                  <a:srgbClr val="5A3320"/>
                </a:solidFill>
                <a:latin typeface="PingFang SC"/>
                <a:ea typeface="PingFang SC"/>
              </a:rPr>
              <a:t>官方示例：</a:t>
            </a:r>
            <a:r>
              <a:rPr lang="en-US" sz="1275">
                <a:solidFill>
                  <a:srgbClr val="5A3320"/>
                </a:solidFill>
                <a:latin typeface="PingFang SC"/>
                <a:ea typeface="PingFang SC"/>
              </a:rPr>
              <a:t>Alice: “Done. PR submitted”</a:t>
            </a:r>
            <a:r>
              <a:rPr lang="en-US" sz="1275">
                <a:solidFill>
                  <a:srgbClr val="5A3320"/>
                </a:solidFill>
                <a:latin typeface="PingFang SC"/>
                <a:ea typeface="PingFang SC"/>
              </a:rPr>
              <a:t> —— </a:t>
            </a:r>
            <a:r>
              <a:rPr lang="zh-CN" sz="1275">
                <a:solidFill>
                  <a:srgbClr val="5A3320"/>
                </a:solidFill>
                <a:latin typeface="PingFang SC"/>
                <a:ea typeface="PingFang SC"/>
              </a:rPr>
              <a:t>但</a:t>
            </a:r>
            <a:r>
              <a:rPr lang="zh-CN" sz="1275">
                <a:solidFill>
                  <a:srgbClr val="5A3320"/>
                </a:solidFill>
                <a:latin typeface="PingFang SC"/>
                <a:ea typeface="PingFang SC"/>
              </a:rPr>
              <a:t>没有任何机制能发现</a:t>
            </a:r>
            <a:r>
              <a:rPr lang="en-US" sz="1275">
                <a:solidFill>
                  <a:srgbClr val="5A3320"/>
                </a:solidFill>
                <a:latin typeface="PingFang SC"/>
                <a:ea typeface="PingFang SC"/>
              </a:rPr>
              <a:t> Worker </a:t>
            </a:r>
            <a:r>
              <a:rPr lang="zh-CN" sz="1275">
                <a:solidFill>
                  <a:srgbClr val="5A3320"/>
                </a:solidFill>
                <a:latin typeface="PingFang SC"/>
                <a:ea typeface="PingFang SC"/>
              </a:rPr>
              <a:t>错误地认为自己成功了</a:t>
            </a:r>
            <a:r>
              <a:rPr lang="zh-CN" sz="1275">
                <a:solidFill>
                  <a:srgbClr val="5A3320"/>
                </a:solidFill>
                <a:latin typeface="PingFang SC"/>
                <a:ea typeface="PingFang SC"/>
              </a:rPr>
              <a:t>。这是组织设计问题，不是模型能力问题。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609600" y="2019300"/>
            <a:ext cx="2076450" cy="2971800"/>
          </a:xfrm>
          <a:custGeom>
            <a:pathLst>
              <a:path w="218" h="312">
                <a:moveTo>
                  <a:pt x="0" y="0"/>
                </a:moveTo>
                <a:lnTo>
                  <a:pt x="218" y="0"/>
                </a:lnTo>
                <a:lnTo>
                  <a:pt x="218" y="0"/>
                </a:lnTo>
                <a:lnTo>
                  <a:pt x="218" y="300"/>
                </a:lnTo>
                <a:cubicBezTo>
                  <a:pt x="218" y="307"/>
                  <a:pt x="213" y="312"/>
                  <a:pt x="206" y="312"/>
                </a:cubicBezTo>
                <a:lnTo>
                  <a:pt x="12" y="312"/>
                </a:lnTo>
                <a:cubicBezTo>
                  <a:pt x="5" y="312"/>
                  <a:pt x="0" y="307"/>
                  <a:pt x="0" y="300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410" name=""/>
          <p:cNvSpPr/>
          <p:nvPr/>
        </p:nvSpPr>
        <p:spPr>
          <a:xfrm rot="0" flipH="0" flipV="0">
            <a:off x="609600" y="2019300"/>
            <a:ext cx="2076450" cy="2971800"/>
          </a:xfrm>
          <a:custGeom>
            <a:pathLst>
              <a:path w="218" h="312">
                <a:moveTo>
                  <a:pt x="218" y="4"/>
                </a:moveTo>
                <a:lnTo>
                  <a:pt x="0" y="4"/>
                </a:lnTo>
                <a:lnTo>
                  <a:pt x="0" y="0"/>
                </a:lnTo>
                <a:lnTo>
                  <a:pt x="218" y="0"/>
                </a:lnTo>
                <a:close/>
              </a:path>
            </a:pathLst>
          </a:custGeom>
          <a:solidFill>
            <a:srgbClr val="2A2F5B"/>
          </a:solidFill>
          <a:ln/>
        </p:spPr>
        <p:txBody>
          <a:bodyPr/>
          <a:p/>
        </p:txBody>
      </p:sp>
      <p:sp>
        <p:nvSpPr>
          <p:cNvPr id="411" name=""/>
          <p:cNvSpPr/>
          <p:nvPr/>
        </p:nvSpPr>
        <p:spPr>
          <a:xfrm rot="0" flipH="0" flipV="0">
            <a:off x="762000" y="21717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95350" y="2247900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762000" y="2667000"/>
            <a:ext cx="1771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B1F3B"/>
                </a:solidFill>
                <a:latin typeface="PingFang SC"/>
                <a:ea typeface="PingFang SC"/>
              </a:rPr>
              <a:t>自报告交付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762000" y="2962275"/>
            <a:ext cx="1771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88">
                <a:solidFill>
                  <a:srgbClr val="4A5168"/>
                </a:solidFill>
                <a:latin typeface="PingFang SC"/>
                <a:ea typeface="PingFang SC"/>
              </a:rPr>
              <a:t>Agent </a:t>
            </a:r>
            <a:r>
              <a:rPr lang="zh-CN" sz="1088">
                <a:solidFill>
                  <a:srgbClr val="4A5168"/>
                </a:solidFill>
                <a:latin typeface="PingFang SC"/>
                <a:ea typeface="PingFang SC"/>
              </a:rPr>
              <a:t>的“完成”是自然语言断言，不可机器校验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762000" y="4581525"/>
            <a:ext cx="1771650" cy="238125"/>
          </a:xfrm>
          <a:prstGeom prst="roundRect">
            <a:avLst>
              <a:gd name="adj" fmla="val 24000"/>
            </a:avLst>
          </a:prstGeom>
          <a:solidFill>
            <a:srgbClr val="E9EEFB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838200" y="4629150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2F5B"/>
                </a:solidFill>
                <a:latin typeface="Inter"/>
                <a:ea typeface="Inter"/>
              </a:rPr>
              <a:t>闭环·</a:t>
            </a:r>
            <a:r>
              <a:rPr lang="en-US" sz="938">
                <a:solidFill>
                  <a:srgbClr val="2A2F5B"/>
                </a:solidFill>
                <a:latin typeface="Inter"/>
                <a:ea typeface="Inter"/>
              </a:rPr>
              <a:t>5 </a:t>
            </a:r>
            <a:r>
              <a:rPr lang="zh-CN" sz="938">
                <a:solidFill>
                  <a:srgbClr val="2A2F5B"/>
                </a:solidFill>
                <a:latin typeface="Inter"/>
                <a:ea typeface="Inter"/>
              </a:rPr>
              <a:t>结果验证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2800350" y="2019300"/>
            <a:ext cx="2076450" cy="2971800"/>
          </a:xfrm>
          <a:custGeom>
            <a:pathLst>
              <a:path w="218" h="312">
                <a:moveTo>
                  <a:pt x="0" y="0"/>
                </a:moveTo>
                <a:lnTo>
                  <a:pt x="218" y="0"/>
                </a:lnTo>
                <a:lnTo>
                  <a:pt x="218" y="0"/>
                </a:lnTo>
                <a:lnTo>
                  <a:pt x="218" y="300"/>
                </a:lnTo>
                <a:cubicBezTo>
                  <a:pt x="218" y="307"/>
                  <a:pt x="213" y="312"/>
                  <a:pt x="206" y="312"/>
                </a:cubicBezTo>
                <a:lnTo>
                  <a:pt x="12" y="312"/>
                </a:lnTo>
                <a:cubicBezTo>
                  <a:pt x="5" y="312"/>
                  <a:pt x="0" y="307"/>
                  <a:pt x="0" y="300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4EE"/>
          </a:solidFill>
          <a:ln/>
        </p:spPr>
        <p:txBody>
          <a:bodyPr/>
          <a:p/>
        </p:txBody>
      </p:sp>
      <p:sp>
        <p:nvSpPr>
          <p:cNvPr id="418" name=""/>
          <p:cNvSpPr/>
          <p:nvPr/>
        </p:nvSpPr>
        <p:spPr>
          <a:xfrm rot="0" flipH="0" flipV="0">
            <a:off x="2800350" y="2019300"/>
            <a:ext cx="2076450" cy="2971800"/>
          </a:xfrm>
          <a:custGeom>
            <a:pathLst>
              <a:path w="218" h="312">
                <a:moveTo>
                  <a:pt x="218" y="4"/>
                </a:moveTo>
                <a:lnTo>
                  <a:pt x="0" y="4"/>
                </a:lnTo>
                <a:lnTo>
                  <a:pt x="0" y="0"/>
                </a:lnTo>
                <a:lnTo>
                  <a:pt x="218" y="0"/>
                </a:ln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419" name=""/>
          <p:cNvSpPr/>
          <p:nvPr/>
        </p:nvSpPr>
        <p:spPr>
          <a:xfrm rot="0" flipH="0" flipV="0">
            <a:off x="2952750" y="21717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3086100" y="2247900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Inter"/>
                <a:ea typeface="Inter"/>
              </a:rPr>
              <a:t>2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2952750" y="2667000"/>
            <a:ext cx="1771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B1F3B"/>
                </a:solidFill>
                <a:latin typeface="PingFang SC"/>
                <a:ea typeface="PingFang SC"/>
              </a:rPr>
              <a:t>验证与执行同源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2952750" y="2962275"/>
            <a:ext cx="17716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88">
                <a:solidFill>
                  <a:srgbClr val="4A5168"/>
                </a:solidFill>
                <a:latin typeface="PingFang SC"/>
                <a:ea typeface="PingFang SC"/>
              </a:rPr>
              <a:t>让写代码的</a:t>
            </a:r>
            <a:r>
              <a:rPr lang="en-US" sz="1088">
                <a:solidFill>
                  <a:srgbClr val="4A5168"/>
                </a:solidFill>
                <a:latin typeface="PingFang SC"/>
                <a:ea typeface="PingFang SC"/>
              </a:rPr>
              <a:t> Agent </a:t>
            </a:r>
            <a:r>
              <a:rPr lang="zh-CN" sz="1088">
                <a:solidFill>
                  <a:srgbClr val="4A5168"/>
                </a:solidFill>
                <a:latin typeface="PingFang SC"/>
                <a:ea typeface="PingFang SC"/>
              </a:rPr>
              <a:t>判断自己写得对不对，等于考生批自己卷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2952750" y="4581525"/>
            <a:ext cx="1771650" cy="238125"/>
          </a:xfrm>
          <a:prstGeom prst="roundRect">
            <a:avLst>
              <a:gd name="adj" fmla="val 24000"/>
            </a:avLst>
          </a:prstGeom>
          <a:solidFill>
            <a:srgbClr val="FFE3D3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3028950" y="4629150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2F5B"/>
                </a:solidFill>
                <a:latin typeface="Inter"/>
                <a:ea typeface="Inter"/>
              </a:rPr>
              <a:t>闭环·</a:t>
            </a:r>
            <a:r>
              <a:rPr lang="en-US" sz="938">
                <a:solidFill>
                  <a:srgbClr val="2A2F5B"/>
                </a:solidFill>
                <a:latin typeface="Inter"/>
                <a:ea typeface="Inter"/>
              </a:rPr>
              <a:t>5 </a:t>
            </a:r>
            <a:r>
              <a:rPr lang="zh-CN" sz="938">
                <a:solidFill>
                  <a:srgbClr val="2A2F5B"/>
                </a:solidFill>
                <a:latin typeface="Inter"/>
                <a:ea typeface="Inter"/>
              </a:rPr>
              <a:t>结果验证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4991100" y="2019300"/>
            <a:ext cx="2076450" cy="2971800"/>
          </a:xfrm>
          <a:custGeom>
            <a:pathLst>
              <a:path w="218" h="312">
                <a:moveTo>
                  <a:pt x="0" y="0"/>
                </a:moveTo>
                <a:lnTo>
                  <a:pt x="218" y="0"/>
                </a:lnTo>
                <a:lnTo>
                  <a:pt x="218" y="0"/>
                </a:lnTo>
                <a:lnTo>
                  <a:pt x="218" y="300"/>
                </a:lnTo>
                <a:cubicBezTo>
                  <a:pt x="218" y="307"/>
                  <a:pt x="213" y="312"/>
                  <a:pt x="206" y="312"/>
                </a:cubicBezTo>
                <a:lnTo>
                  <a:pt x="12" y="312"/>
                </a:lnTo>
                <a:cubicBezTo>
                  <a:pt x="5" y="312"/>
                  <a:pt x="0" y="307"/>
                  <a:pt x="0" y="300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426" name=""/>
          <p:cNvSpPr/>
          <p:nvPr/>
        </p:nvSpPr>
        <p:spPr>
          <a:xfrm rot="0" flipH="0" flipV="0">
            <a:off x="4991100" y="2019300"/>
            <a:ext cx="2076450" cy="2971800"/>
          </a:xfrm>
          <a:custGeom>
            <a:pathLst>
              <a:path w="218" h="312">
                <a:moveTo>
                  <a:pt x="218" y="4"/>
                </a:moveTo>
                <a:lnTo>
                  <a:pt x="0" y="4"/>
                </a:lnTo>
                <a:lnTo>
                  <a:pt x="0" y="0"/>
                </a:lnTo>
                <a:lnTo>
                  <a:pt x="218" y="0"/>
                </a:lnTo>
                <a:close/>
              </a:path>
            </a:pathLst>
          </a:custGeom>
          <a:solidFill>
            <a:srgbClr val="2A2F5B"/>
          </a:solidFill>
          <a:ln/>
        </p:spPr>
        <p:txBody>
          <a:bodyPr/>
          <a:p/>
        </p:txBody>
      </p:sp>
      <p:sp>
        <p:nvSpPr>
          <p:cNvPr id="427" name=""/>
          <p:cNvSpPr/>
          <p:nvPr/>
        </p:nvSpPr>
        <p:spPr>
          <a:xfrm rot="0" flipH="0" flipV="0">
            <a:off x="5143500" y="21717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5276850" y="2247900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5143500" y="2667000"/>
            <a:ext cx="1771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B1F3B"/>
                </a:solidFill>
                <a:latin typeface="PingFang SC"/>
                <a:ea typeface="PingFang SC"/>
              </a:rPr>
              <a:t>并行冲突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5143500" y="2962275"/>
            <a:ext cx="1771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88">
                <a:solidFill>
                  <a:srgbClr val="4A5168"/>
                </a:solidFill>
                <a:latin typeface="PingFang SC"/>
                <a:ea typeface="PingFang SC"/>
              </a:rPr>
              <a:t>多</a:t>
            </a:r>
            <a:r>
              <a:rPr lang="en-US" sz="1088">
                <a:solidFill>
                  <a:srgbClr val="4A5168"/>
                </a:solidFill>
                <a:latin typeface="PingFang SC"/>
                <a:ea typeface="PingFang SC"/>
              </a:rPr>
              <a:t> Agent </a:t>
            </a:r>
            <a:r>
              <a:rPr lang="zh-CN" sz="1088">
                <a:solidFill>
                  <a:srgbClr val="4A5168"/>
                </a:solidFill>
                <a:latin typeface="PingFang SC"/>
                <a:ea typeface="PingFang SC"/>
              </a:rPr>
              <a:t>改同一仓库，缺隔离与租约，互相覆盖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5143500" y="4581525"/>
            <a:ext cx="1771650" cy="238125"/>
          </a:xfrm>
          <a:prstGeom prst="roundRect">
            <a:avLst>
              <a:gd name="adj" fmla="val 24000"/>
            </a:avLst>
          </a:prstGeom>
          <a:solidFill>
            <a:srgbClr val="E9EEFB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5219700" y="4629150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2F5B"/>
                </a:solidFill>
                <a:latin typeface="Inter"/>
                <a:ea typeface="Inter"/>
              </a:rPr>
              <a:t>闭环·</a:t>
            </a:r>
            <a:r>
              <a:rPr lang="en-US" sz="938">
                <a:solidFill>
                  <a:srgbClr val="2A2F5B"/>
                </a:solidFill>
                <a:latin typeface="Inter"/>
                <a:ea typeface="Inter"/>
              </a:rPr>
              <a:t>3 </a:t>
            </a:r>
            <a:r>
              <a:rPr lang="zh-CN" sz="938">
                <a:solidFill>
                  <a:srgbClr val="2A2F5B"/>
                </a:solidFill>
                <a:latin typeface="Inter"/>
                <a:ea typeface="Inter"/>
              </a:rPr>
              <a:t>上下文传递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7181850" y="2019300"/>
            <a:ext cx="2076450" cy="2971800"/>
          </a:xfrm>
          <a:custGeom>
            <a:pathLst>
              <a:path w="218" h="312">
                <a:moveTo>
                  <a:pt x="0" y="0"/>
                </a:moveTo>
                <a:lnTo>
                  <a:pt x="218" y="0"/>
                </a:lnTo>
                <a:lnTo>
                  <a:pt x="218" y="0"/>
                </a:lnTo>
                <a:lnTo>
                  <a:pt x="218" y="300"/>
                </a:lnTo>
                <a:cubicBezTo>
                  <a:pt x="218" y="307"/>
                  <a:pt x="213" y="312"/>
                  <a:pt x="206" y="312"/>
                </a:cubicBezTo>
                <a:lnTo>
                  <a:pt x="12" y="312"/>
                </a:lnTo>
                <a:cubicBezTo>
                  <a:pt x="5" y="312"/>
                  <a:pt x="0" y="307"/>
                  <a:pt x="0" y="300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434" name=""/>
          <p:cNvSpPr/>
          <p:nvPr/>
        </p:nvSpPr>
        <p:spPr>
          <a:xfrm rot="0" flipH="0" flipV="0">
            <a:off x="7181850" y="2019300"/>
            <a:ext cx="2076450" cy="2971800"/>
          </a:xfrm>
          <a:custGeom>
            <a:pathLst>
              <a:path w="218" h="312">
                <a:moveTo>
                  <a:pt x="218" y="4"/>
                </a:moveTo>
                <a:lnTo>
                  <a:pt x="0" y="4"/>
                </a:lnTo>
                <a:lnTo>
                  <a:pt x="0" y="0"/>
                </a:lnTo>
                <a:lnTo>
                  <a:pt x="218" y="0"/>
                </a:lnTo>
                <a:close/>
              </a:path>
            </a:pathLst>
          </a:custGeom>
          <a:solidFill>
            <a:srgbClr val="2A2F5B"/>
          </a:solidFill>
          <a:ln/>
        </p:spPr>
        <p:txBody>
          <a:bodyPr/>
          <a:p/>
        </p:txBody>
      </p:sp>
      <p:sp>
        <p:nvSpPr>
          <p:cNvPr id="435" name=""/>
          <p:cNvSpPr/>
          <p:nvPr/>
        </p:nvSpPr>
        <p:spPr>
          <a:xfrm rot="0" flipH="0" flipV="0">
            <a:off x="7334250" y="21717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7467600" y="2247900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Inter"/>
                <a:ea typeface="Inter"/>
              </a:rPr>
              <a:t>4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7334250" y="2667000"/>
            <a:ext cx="1771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B1F3B"/>
                </a:solidFill>
                <a:latin typeface="PingFang SC"/>
                <a:ea typeface="PingFang SC"/>
              </a:rPr>
              <a:t>证据断链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7334250" y="2962275"/>
            <a:ext cx="1771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88">
                <a:solidFill>
                  <a:srgbClr val="4A5168"/>
                </a:solidFill>
                <a:latin typeface="PingFang SC"/>
                <a:ea typeface="PingFang SC"/>
              </a:rPr>
              <a:t>事后要回滚，查不到改了什么、依据什么决策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7334250" y="4581525"/>
            <a:ext cx="1771650" cy="238125"/>
          </a:xfrm>
          <a:prstGeom prst="roundRect">
            <a:avLst>
              <a:gd name="adj" fmla="val 24000"/>
            </a:avLst>
          </a:prstGeom>
          <a:solidFill>
            <a:srgbClr val="E9EEFB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7410450" y="4629150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2F5B"/>
                </a:solidFill>
                <a:latin typeface="Inter"/>
                <a:ea typeface="Inter"/>
              </a:rPr>
              <a:t>闭环·</a:t>
            </a:r>
            <a:r>
              <a:rPr lang="en-US" sz="938">
                <a:solidFill>
                  <a:srgbClr val="2A2F5B"/>
                </a:solidFill>
                <a:latin typeface="Inter"/>
                <a:ea typeface="Inter"/>
              </a:rPr>
              <a:t>6/7 </a:t>
            </a:r>
            <a:r>
              <a:rPr lang="zh-CN" sz="938">
                <a:solidFill>
                  <a:srgbClr val="2A2F5B"/>
                </a:solidFill>
                <a:latin typeface="Inter"/>
                <a:ea typeface="Inter"/>
              </a:rPr>
              <a:t>证据</a:t>
            </a:r>
            <a:r>
              <a:rPr lang="en-US" sz="938">
                <a:solidFill>
                  <a:srgbClr val="2A2F5B"/>
                </a:solidFill>
                <a:latin typeface="Inter"/>
                <a:ea typeface="Inter"/>
              </a:rPr>
              <a:t>/</a:t>
            </a:r>
            <a:r>
              <a:rPr lang="zh-CN" sz="938">
                <a:solidFill>
                  <a:srgbClr val="2A2F5B"/>
                </a:solidFill>
                <a:latin typeface="Inter"/>
                <a:ea typeface="Inter"/>
              </a:rPr>
              <a:t>回滚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9372600" y="2019300"/>
            <a:ext cx="2076450" cy="2971800"/>
          </a:xfrm>
          <a:custGeom>
            <a:pathLst>
              <a:path w="218" h="312">
                <a:moveTo>
                  <a:pt x="0" y="0"/>
                </a:moveTo>
                <a:lnTo>
                  <a:pt x="218" y="0"/>
                </a:lnTo>
                <a:lnTo>
                  <a:pt x="218" y="0"/>
                </a:lnTo>
                <a:lnTo>
                  <a:pt x="218" y="300"/>
                </a:lnTo>
                <a:cubicBezTo>
                  <a:pt x="218" y="307"/>
                  <a:pt x="213" y="312"/>
                  <a:pt x="206" y="312"/>
                </a:cubicBezTo>
                <a:lnTo>
                  <a:pt x="12" y="312"/>
                </a:lnTo>
                <a:cubicBezTo>
                  <a:pt x="5" y="312"/>
                  <a:pt x="0" y="307"/>
                  <a:pt x="0" y="300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9372600" y="2019300"/>
            <a:ext cx="2076450" cy="2971800"/>
          </a:xfrm>
          <a:custGeom>
            <a:pathLst>
              <a:path w="218" h="312">
                <a:moveTo>
                  <a:pt x="218" y="4"/>
                </a:moveTo>
                <a:lnTo>
                  <a:pt x="0" y="4"/>
                </a:lnTo>
                <a:lnTo>
                  <a:pt x="0" y="0"/>
                </a:lnTo>
                <a:lnTo>
                  <a:pt x="218" y="0"/>
                </a:lnTo>
                <a:close/>
              </a:path>
            </a:pathLst>
          </a:custGeom>
          <a:solidFill>
            <a:srgbClr val="2A2F5B"/>
          </a:solidFill>
          <a:ln/>
        </p:spPr>
        <p:txBody>
          <a:bodyPr/>
          <a:p/>
        </p:txBody>
      </p:sp>
      <p:sp>
        <p:nvSpPr>
          <p:cNvPr id="443" name=""/>
          <p:cNvSpPr/>
          <p:nvPr/>
        </p:nvSpPr>
        <p:spPr>
          <a:xfrm rot="0" flipH="0" flipV="0">
            <a:off x="9525000" y="21717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9658350" y="2247900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Inter"/>
                <a:ea typeface="Inter"/>
              </a:rPr>
              <a:t>5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9525000" y="2667000"/>
            <a:ext cx="1771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B1F3B"/>
                </a:solidFill>
                <a:latin typeface="PingFang SC"/>
                <a:ea typeface="PingFang SC"/>
              </a:rPr>
              <a:t>经验不沉淀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9525000" y="2962275"/>
            <a:ext cx="1771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88">
                <a:solidFill>
                  <a:srgbClr val="4A5168"/>
                </a:solidFill>
                <a:latin typeface="PingFang SC"/>
                <a:ea typeface="PingFang SC"/>
              </a:rPr>
              <a:t>每任务从零开始，上次的坑下次照踩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9525000" y="4581525"/>
            <a:ext cx="1771650" cy="238125"/>
          </a:xfrm>
          <a:prstGeom prst="roundRect">
            <a:avLst>
              <a:gd name="adj" fmla="val 24000"/>
            </a:avLst>
          </a:prstGeom>
          <a:solidFill>
            <a:srgbClr val="E9EEFB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9601200" y="4629150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2F5B"/>
                </a:solidFill>
                <a:latin typeface="Inter"/>
                <a:ea typeface="Inter"/>
              </a:rPr>
              <a:t>闭环·</a:t>
            </a:r>
            <a:r>
              <a:rPr lang="en-US" sz="938">
                <a:solidFill>
                  <a:srgbClr val="2A2F5B"/>
                </a:solidFill>
                <a:latin typeface="Inter"/>
                <a:ea typeface="Inter"/>
              </a:rPr>
              <a:t>8 </a:t>
            </a:r>
            <a:r>
              <a:rPr lang="zh-CN" sz="938">
                <a:solidFill>
                  <a:srgbClr val="2A2F5B"/>
                </a:solidFill>
                <a:latin typeface="Inter"/>
                <a:ea typeface="Inter"/>
              </a:rPr>
              <a:t>经验沉淀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449" name="" descr="&lt;Slide style={{ width:'1280px', height:'720px', background:'#1B1F3B', padding:'0', position:'relative', display:'flex', flexDirection:'column', justifyContent:'center', paddingLeft:110, overflow:'hidden' }}&gt;&#10;  &lt;Box style={{ position:'absolute', right:0, top:0, width:320, height:320, background:'linear-gradient(135deg,#FF6B35 0%, transparent 100%)', opacity:0.14 }} /&gt;&#10;  &lt;Text style={{ position:'absolute', top:70, left:90, fontSize:240, fontWeight:'bold', color:'#2A2F5B', fontFamily:'Inter', lineHeight:1, zIndex:0 }}&gt;02&lt;/Text&gt;&#10;  &lt;Box style={{ position:'relative', zIndex:1 }}&gt;&#10;    &lt;Box style={{ width:80, height:6, background:'#FF6B35', borderRadius:3, marginBottom:22 }} /&gt;&#10;    &lt;Text style={{ fontSize:48, fontWeight:'bold', color:'#FFFFFF', fontFamily:'PingFang SC' }}&gt;方案总览&lt;/Text&gt;&#10;    &lt;Text style={{ fontSize:19, color:'#9AA1B8', marginTop:14, fontFamily:'Inter', letterSpacing:3 }}&gt;SOLUTION OVERVIEW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1F3B"/>
          </a:solidFill>
          <a:ln/>
        </p:spPr>
        <p:txBody>
          <a:bodyPr/>
          <a:p/>
        </p:txBody>
      </p:sp>
      <p:sp>
        <p:nvSpPr>
          <p:cNvPr id="451" name=""/>
          <p:cNvSpPr/>
          <p:nvPr/>
        </p:nvSpPr>
        <p:spPr>
          <a:xfrm rot="0" flipH="0" flipV="0">
            <a:off x="9144000" y="0"/>
            <a:ext cx="3048000" cy="3048000"/>
          </a:xfrm>
          <a:prstGeom prst="rect">
            <a:avLst/>
          </a:prstGeom>
          <a:gradFill>
            <a:gsLst>
              <a:gs pos="0">
                <a:srgbClr val="FF6B35">
                  <a:alpha val="14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857250" y="666750"/>
            <a:ext cx="254317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2A2F5B"/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1047750" y="2847975"/>
            <a:ext cx="762000" cy="571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047750" y="3114675"/>
            <a:ext cx="111442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PingFang SC"/>
                <a:ea typeface="PingFang SC"/>
              </a:rPr>
              <a:t>方案总览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1047750" y="3800475"/>
            <a:ext cx="11144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225">
                <a:solidFill>
                  <a:srgbClr val="9AA1B8"/>
                </a:solidFill>
                <a:latin typeface="Inter"/>
                <a:ea typeface="Inter"/>
              </a:rPr>
              <a:t>SOLUTION OVERVIEW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456" name="" descr="&lt;Slide style={{ width:'1280px', height:'720px', background:'#FFFFFF', padding:'24px 64px 40px', display:'flex', flexDirection:'column' }}&gt;&#10;  &lt;Box style={{ display:'flex', alignItems:'center', gap:14, height:64 }}&gt;&#10;    &lt;Box style={{ width:8, height:34, background:'#FF6B35', borderRadius:4 }} /&gt;&#10;    &lt;Text style={{ fontSize:30, fontWeight:'bold', color:'#1B1F3B', fontFamily:'PingFang SC' }}&gt;分层架构：LoopDesk 作为第四种 Worker Runtime&lt;/Text&gt;&#10;  &lt;/Box&gt;&#10;  &lt;Box style={{ display:'flex', gap:18, marginTop:6 }}&gt;&#10;    &lt;Box style={{ width:724, display:'flex', flexDirection:'column', gap:9 }}&gt;&#10;      {[&#10;        { n:'用户入口', d:'Issue / 错误日志 / 工单 / 用户反馈', bg:'#E9EEFB', tc:'#1B1F3B', dc:'#2A2F5B' },&#10;        { n:'AgentTeams 编排平面', d:'声明式 CRD · Matrix 审计时间线 · Higress 凭证隔离 · MinIO 共享存储', bg:'#2A2F5B', tc:'#FFFFFF', dc:'#C7CCE0' },&#10;        { n:'Worker Runtime 层 · spec.runtime 可插拔', d:'OpenClaw · QwenPaw · Hermes · ▶ LoopDesk（本方案新增）', bg:'#1B1F3B', tc:'#FFFFFF', dc:'#FFB499', hl:true },&#10;        { n:'LoopDesk 运行时内核', d:'Loop Engine · 独立 Verifier + Receipt · Skill 62+7 · 证据链 · 安全层 · Rollback', bg:'#FFEDE4', tc:'#5A3320', dc:'#8A4A2A', core:true },&#10;        { n:'工具连接层', d:'MCP Client/Server（双向已实现）+ 阿里云官方用云 Skills（零适配）', bg:'#E9EEFB', tc:'#1B1F3B', dc:'#2A2F5B' },&#10;        { n:'存储', d:'SQLite 状态/记忆 · 向量 embedding · Trace JSONL（均可回放）', bg:'#F1F3F8', tc:'#1B1F3B', dc:'#4A5168' },&#10;      ].map((l, i) =&gt; (&#10;        &lt;Box key={i} style={{ height:80, borderRadius:10, padding:'9px 18px', background:l.bg, borderLeft: l.core ? '5px solid #FF6B35' : '5px solid transparent', display:'flex', flexDirection:'column', justifyContent:'center' }}&gt;&#10;          &lt;Text style={{ fontSize:16.5, fontWeight:'bold', color:l.tc, fontFamily:'PingFang SC' }}&gt;{l.n}&lt;/Text&gt;&#10;          &lt;Text style={{ fontSize:13.5, color:l.dc, marginTop:4, fontFamily:'PingFang SC' }}&gt;{l.d}&lt;/Text&gt;&#10;        &lt;/Box&gt;&#10;      ))}&#10;    &lt;/Box&gt;&#10;    &lt;Box style={{ width:404, background:'#1B1F3B', borderRadius:12, padding:'20px 22px', display:'flex', flexDirection:'column' }}&gt;&#10;      &lt;Text style={{ fontSize:19, fontWeight:'bold', color:'#FFFFFF', fontFamily:'PingFang SC' }}&gt;关键技术选型与必要性&lt;/Text&gt;&#10;      &lt;Box style={{ width:48, height:4, background:'#FF6B35', borderRadius:2, margin:'10px 0 14px' }} /&gt;&#10;      {[&#10;        { k:'协同编排', v:'AgentTeams（赛道强制）' },&#10;        { k:'Worker 运行时', v:'LoopDesk 补齐官方不做' },&#10;        { k:'工具连接', v:'MCP（已双向实现）' },&#10;        { k:'官方 Skills', v:'阿里云用云（零适配）' },&#10;        { k:'存储 / 可观测', v:'可替换为 PolarDB / LoongSuite' },&#10;      ].map((r, i) =&gt; (&#10;        &lt;Box key={i} style={{ display:'flex', gap:12, padding:'9px 0', borderTop: i===0 ? 'none' : '1px solid #2E3358' }}&gt;&#10;          &lt;Text style={{ fontSize:14, color:'#FF6B35', fontWeight:'bold', width:96, fontFamily:'PingFang SC' }}&gt;{r.k}&lt;/Text&gt;&#10;          &lt;Text style={{ fontSize:14.5, color:'#D7DBEA', fontFamily:'PingFang SC' }}&gt;{r.v}&lt;/Text&gt;&#10;        &lt;/Box&gt;&#10;      ))}&#10;      &lt;Text style={{ fontSize:12.5, color:'#7C83A8', marginTop:'auto', fontFamily:'PingFang SC', lineHeight:1.5 }}&gt;评审不看工具数量，看必要性、接口契约、可替换性与权限边界。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8" name=""/>
          <p:cNvSpPr/>
          <p:nvPr/>
        </p:nvSpPr>
        <p:spPr>
          <a:xfrm rot="0" flipH="0" flipV="0">
            <a:off x="609600" y="371475"/>
            <a:ext cx="76200" cy="3238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819150" y="361950"/>
            <a:ext cx="6610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B1F3B"/>
                </a:solidFill>
                <a:latin typeface="PingFang SC"/>
                <a:ea typeface="PingFang SC"/>
              </a:rPr>
              <a:t>分层架构：</a:t>
            </a:r>
            <a:r>
              <a:rPr lang="en-US" sz="2250" b="1">
                <a:solidFill>
                  <a:srgbClr val="1B1F3B"/>
                </a:solidFill>
                <a:latin typeface="PingFang SC"/>
                <a:ea typeface="PingFang SC"/>
              </a:rPr>
              <a:t>LoopDesk </a:t>
            </a:r>
            <a:r>
              <a:rPr lang="zh-CN" sz="2250" b="1">
                <a:solidFill>
                  <a:srgbClr val="1B1F3B"/>
                </a:solidFill>
                <a:latin typeface="PingFang SC"/>
                <a:ea typeface="PingFang SC"/>
              </a:rPr>
              <a:t>作为第四种</a:t>
            </a:r>
            <a:r>
              <a:rPr lang="en-US" sz="2250" b="1">
                <a:solidFill>
                  <a:srgbClr val="1B1F3B"/>
                </a:solidFill>
                <a:latin typeface="PingFang SC"/>
                <a:ea typeface="PingFang SC"/>
              </a:rPr>
              <a:t> Worker Runtime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657225" y="895350"/>
            <a:ext cx="6896100" cy="762000"/>
          </a:xfrm>
          <a:prstGeom prst="roundRect">
            <a:avLst>
              <a:gd name="adj" fmla="val 12500"/>
            </a:avLst>
          </a:prstGeom>
          <a:solidFill>
            <a:srgbClr val="E9EEFB"/>
          </a:solidFill>
          <a:ln/>
        </p:spPr>
        <p:txBody>
          <a:bodyPr/>
          <a:p/>
        </p:txBody>
      </p:sp>
      <p:sp>
        <p:nvSpPr>
          <p:cNvPr id="461" name=""/>
          <p:cNvSpPr/>
          <p:nvPr/>
        </p:nvSpPr>
        <p:spPr>
          <a:xfrm rot="0" flipH="0" flipV="0">
            <a:off x="657225" y="895350"/>
            <a:ext cx="6896100" cy="762000"/>
          </a:xfrm>
          <a:custGeom>
            <a:pathLst>
              <a:path w="724" h="80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75"/>
                </a:lnTo>
                <a:cubicBezTo>
                  <a:pt x="5" y="77"/>
                  <a:pt x="7" y="79"/>
                  <a:pt x="9" y="80"/>
                </a:cubicBezTo>
                <a:cubicBezTo>
                  <a:pt x="4" y="79"/>
                  <a:pt x="0" y="75"/>
                  <a:pt x="0" y="7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828675" y="1085850"/>
            <a:ext cx="6505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B1F3B"/>
                </a:solidFill>
                <a:latin typeface="PingFang SC"/>
                <a:ea typeface="PingFang SC"/>
              </a:rPr>
              <a:t>用户入口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28675" y="1314450"/>
            <a:ext cx="650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2F5B"/>
                </a:solidFill>
                <a:latin typeface="PingFang SC"/>
                <a:ea typeface="PingFang SC"/>
              </a:rPr>
              <a:t>Issue / </a:t>
            </a:r>
            <a:r>
              <a:rPr lang="zh-CN" sz="1013">
                <a:solidFill>
                  <a:srgbClr val="2A2F5B"/>
                </a:solidFill>
                <a:latin typeface="PingFang SC"/>
                <a:ea typeface="PingFang SC"/>
              </a:rPr>
              <a:t>错误日志</a:t>
            </a:r>
            <a:r>
              <a:rPr lang="en-US" sz="1013">
                <a:solidFill>
                  <a:srgbClr val="2A2F5B"/>
                </a:solidFill>
                <a:latin typeface="PingFang SC"/>
                <a:ea typeface="PingFang SC"/>
              </a:rPr>
              <a:t> / </a:t>
            </a:r>
            <a:r>
              <a:rPr lang="zh-CN" sz="1013">
                <a:solidFill>
                  <a:srgbClr val="2A2F5B"/>
                </a:solidFill>
                <a:latin typeface="PingFang SC"/>
                <a:ea typeface="PingFang SC"/>
              </a:rPr>
              <a:t>工单</a:t>
            </a:r>
            <a:r>
              <a:rPr lang="en-US" sz="1013">
                <a:solidFill>
                  <a:srgbClr val="2A2F5B"/>
                </a:solidFill>
                <a:latin typeface="PingFang SC"/>
                <a:ea typeface="PingFang SC"/>
              </a:rPr>
              <a:t> / </a:t>
            </a:r>
            <a:r>
              <a:rPr lang="zh-CN" sz="1013">
                <a:solidFill>
                  <a:srgbClr val="2A2F5B"/>
                </a:solidFill>
                <a:latin typeface="PingFang SC"/>
                <a:ea typeface="PingFang SC"/>
              </a:rPr>
              <a:t>用户反馈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657225" y="1743075"/>
            <a:ext cx="6896100" cy="762000"/>
          </a:xfrm>
          <a:prstGeom prst="roundRect">
            <a:avLst>
              <a:gd name="adj" fmla="val 12500"/>
            </a:avLst>
          </a:prstGeom>
          <a:solidFill>
            <a:srgbClr val="2A2F5B"/>
          </a:solidFill>
          <a:ln/>
        </p:spPr>
        <p:txBody>
          <a:bodyPr/>
          <a:p/>
        </p:txBody>
      </p:sp>
      <p:sp>
        <p:nvSpPr>
          <p:cNvPr id="465" name=""/>
          <p:cNvSpPr/>
          <p:nvPr/>
        </p:nvSpPr>
        <p:spPr>
          <a:xfrm rot="0" flipH="0" flipV="0">
            <a:off x="657225" y="1743075"/>
            <a:ext cx="6896100" cy="762000"/>
          </a:xfrm>
          <a:custGeom>
            <a:pathLst>
              <a:path w="724" h="80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75"/>
                </a:lnTo>
                <a:cubicBezTo>
                  <a:pt x="5" y="77"/>
                  <a:pt x="7" y="79"/>
                  <a:pt x="9" y="80"/>
                </a:cubicBezTo>
                <a:cubicBezTo>
                  <a:pt x="4" y="79"/>
                  <a:pt x="0" y="75"/>
                  <a:pt x="0" y="7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828675" y="1933575"/>
            <a:ext cx="6505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PingFang SC"/>
                <a:ea typeface="PingFang SC"/>
              </a:rPr>
              <a:t>AgentTeams </a:t>
            </a:r>
            <a:r>
              <a:rPr lang="zh-CN" sz="1238" b="1">
                <a:solidFill>
                  <a:srgbClr val="FFFFFF"/>
                </a:solidFill>
                <a:latin typeface="PingFang SC"/>
                <a:ea typeface="PingFang SC"/>
              </a:rPr>
              <a:t>编排平面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828675" y="2162175"/>
            <a:ext cx="650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C7CCE0"/>
                </a:solidFill>
                <a:latin typeface="PingFang SC"/>
                <a:ea typeface="PingFang SC"/>
              </a:rPr>
              <a:t>声明式</a:t>
            </a:r>
            <a:r>
              <a:rPr lang="en-US" sz="1013">
                <a:solidFill>
                  <a:srgbClr val="C7CCE0"/>
                </a:solidFill>
                <a:latin typeface="PingFang SC"/>
                <a:ea typeface="PingFang SC"/>
              </a:rPr>
              <a:t> CRD · Matrix </a:t>
            </a:r>
            <a:r>
              <a:rPr lang="zh-CN" sz="1013">
                <a:solidFill>
                  <a:srgbClr val="C7CCE0"/>
                </a:solidFill>
                <a:latin typeface="PingFang SC"/>
                <a:ea typeface="PingFang SC"/>
              </a:rPr>
              <a:t>审计时间线</a:t>
            </a:r>
            <a:r>
              <a:rPr lang="en-US" sz="1013">
                <a:solidFill>
                  <a:srgbClr val="C7CCE0"/>
                </a:solidFill>
                <a:latin typeface="PingFang SC"/>
                <a:ea typeface="PingFang SC"/>
              </a:rPr>
              <a:t> · Higress </a:t>
            </a:r>
            <a:r>
              <a:rPr lang="zh-CN" sz="1013">
                <a:solidFill>
                  <a:srgbClr val="C7CCE0"/>
                </a:solidFill>
                <a:latin typeface="PingFang SC"/>
                <a:ea typeface="PingFang SC"/>
              </a:rPr>
              <a:t>凭证隔离</a:t>
            </a:r>
            <a:r>
              <a:rPr lang="en-US" sz="1013">
                <a:solidFill>
                  <a:srgbClr val="C7CCE0"/>
                </a:solidFill>
                <a:latin typeface="PingFang SC"/>
                <a:ea typeface="PingFang SC"/>
              </a:rPr>
              <a:t> · MinIO </a:t>
            </a:r>
            <a:r>
              <a:rPr lang="zh-CN" sz="1013">
                <a:solidFill>
                  <a:srgbClr val="C7CCE0"/>
                </a:solidFill>
                <a:latin typeface="PingFang SC"/>
                <a:ea typeface="PingFang SC"/>
              </a:rPr>
              <a:t>共享存储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657225" y="2590800"/>
            <a:ext cx="6896100" cy="762000"/>
          </a:xfrm>
          <a:prstGeom prst="roundRect">
            <a:avLst>
              <a:gd name="adj" fmla="val 12500"/>
            </a:avLst>
          </a:prstGeom>
          <a:solidFill>
            <a:srgbClr val="1B1F3B"/>
          </a:solidFill>
          <a:ln/>
        </p:spPr>
        <p:txBody>
          <a:bodyPr/>
          <a:p/>
        </p:txBody>
      </p:sp>
      <p:sp>
        <p:nvSpPr>
          <p:cNvPr id="469" name=""/>
          <p:cNvSpPr/>
          <p:nvPr/>
        </p:nvSpPr>
        <p:spPr>
          <a:xfrm rot="0" flipH="0" flipV="0">
            <a:off x="657225" y="2590800"/>
            <a:ext cx="6896100" cy="762000"/>
          </a:xfrm>
          <a:custGeom>
            <a:pathLst>
              <a:path w="724" h="80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75"/>
                </a:lnTo>
                <a:cubicBezTo>
                  <a:pt x="5" y="77"/>
                  <a:pt x="7" y="79"/>
                  <a:pt x="9" y="80"/>
                </a:cubicBezTo>
                <a:cubicBezTo>
                  <a:pt x="4" y="79"/>
                  <a:pt x="0" y="75"/>
                  <a:pt x="0" y="7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828675" y="2781300"/>
            <a:ext cx="6505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PingFang SC"/>
                <a:ea typeface="PingFang SC"/>
              </a:rPr>
              <a:t>Worker Runtime </a:t>
            </a:r>
            <a:r>
              <a:rPr lang="zh-CN" sz="1238" b="1">
                <a:solidFill>
                  <a:srgbClr val="FFFFFF"/>
                </a:solidFill>
                <a:latin typeface="PingFang SC"/>
                <a:ea typeface="PingFang SC"/>
              </a:rPr>
              <a:t>层</a:t>
            </a:r>
            <a:r>
              <a:rPr lang="en-US" sz="1238" b="1">
                <a:solidFill>
                  <a:srgbClr val="FFFFFF"/>
                </a:solidFill>
                <a:latin typeface="PingFang SC"/>
                <a:ea typeface="PingFang SC"/>
              </a:rPr>
              <a:t> · spec.runtime </a:t>
            </a:r>
            <a:r>
              <a:rPr lang="zh-CN" sz="1238" b="1">
                <a:solidFill>
                  <a:srgbClr val="FFFFFF"/>
                </a:solidFill>
                <a:latin typeface="PingFang SC"/>
                <a:ea typeface="PingFang SC"/>
              </a:rPr>
              <a:t>可插拔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828675" y="3009900"/>
            <a:ext cx="650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FFB499"/>
                </a:solidFill>
                <a:latin typeface="PingFang SC"/>
                <a:ea typeface="PingFang SC"/>
              </a:rPr>
              <a:t>OpenClaw · QwenPaw · Hermes · ▶ LoopDesk</a:t>
            </a:r>
            <a:r>
              <a:rPr lang="zh-CN" sz="1013">
                <a:solidFill>
                  <a:srgbClr val="FFB499"/>
                </a:solidFill>
                <a:latin typeface="PingFang SC"/>
                <a:ea typeface="PingFang SC"/>
              </a:rPr>
              <a:t>（本方案新增）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657225" y="3438525"/>
            <a:ext cx="6896100" cy="762000"/>
          </a:xfrm>
          <a:prstGeom prst="roundRect">
            <a:avLst>
              <a:gd name="adj" fmla="val 12500"/>
            </a:avLst>
          </a:prstGeom>
          <a:solidFill>
            <a:srgbClr val="FFEDE4"/>
          </a:solidFill>
          <a:ln/>
        </p:spPr>
        <p:txBody>
          <a:bodyPr/>
          <a:p/>
        </p:txBody>
      </p:sp>
      <p:sp>
        <p:nvSpPr>
          <p:cNvPr id="473" name=""/>
          <p:cNvSpPr/>
          <p:nvPr/>
        </p:nvSpPr>
        <p:spPr>
          <a:xfrm rot="0" flipH="0" flipV="0">
            <a:off x="657225" y="3438525"/>
            <a:ext cx="6896100" cy="762000"/>
          </a:xfrm>
          <a:custGeom>
            <a:pathLst>
              <a:path w="724" h="80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75"/>
                </a:lnTo>
                <a:cubicBezTo>
                  <a:pt x="5" y="77"/>
                  <a:pt x="7" y="79"/>
                  <a:pt x="9" y="80"/>
                </a:cubicBezTo>
                <a:cubicBezTo>
                  <a:pt x="4" y="79"/>
                  <a:pt x="0" y="75"/>
                  <a:pt x="0" y="7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828675" y="3629025"/>
            <a:ext cx="6505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5A3320"/>
                </a:solidFill>
                <a:latin typeface="PingFang SC"/>
                <a:ea typeface="PingFang SC"/>
              </a:rPr>
              <a:t>LoopDesk </a:t>
            </a:r>
            <a:r>
              <a:rPr lang="zh-CN" sz="1238" b="1">
                <a:solidFill>
                  <a:srgbClr val="5A3320"/>
                </a:solidFill>
                <a:latin typeface="PingFang SC"/>
                <a:ea typeface="PingFang SC"/>
              </a:rPr>
              <a:t>运行时内核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828675" y="3857625"/>
            <a:ext cx="650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8A4A2A"/>
                </a:solidFill>
                <a:latin typeface="PingFang SC"/>
                <a:ea typeface="PingFang SC"/>
              </a:rPr>
              <a:t>Loop Engine · </a:t>
            </a:r>
            <a:r>
              <a:rPr lang="zh-CN" sz="1013">
                <a:solidFill>
                  <a:srgbClr val="8A4A2A"/>
                </a:solidFill>
                <a:latin typeface="PingFang SC"/>
                <a:ea typeface="PingFang SC"/>
              </a:rPr>
              <a:t>独立</a:t>
            </a:r>
            <a:r>
              <a:rPr lang="en-US" sz="1013">
                <a:solidFill>
                  <a:srgbClr val="8A4A2A"/>
                </a:solidFill>
                <a:latin typeface="PingFang SC"/>
                <a:ea typeface="PingFang SC"/>
              </a:rPr>
              <a:t> Verifier + Receipt · Skill 62+7 · </a:t>
            </a:r>
            <a:r>
              <a:rPr lang="zh-CN" sz="1013">
                <a:solidFill>
                  <a:srgbClr val="8A4A2A"/>
                </a:solidFill>
                <a:latin typeface="PingFang SC"/>
                <a:ea typeface="PingFang SC"/>
              </a:rPr>
              <a:t>证据链</a:t>
            </a:r>
            <a:r>
              <a:rPr lang="en-US" sz="1013">
                <a:solidFill>
                  <a:srgbClr val="8A4A2A"/>
                </a:solidFill>
                <a:latin typeface="PingFang SC"/>
                <a:ea typeface="PingFang SC"/>
              </a:rPr>
              <a:t> · </a:t>
            </a:r>
            <a:r>
              <a:rPr lang="zh-CN" sz="1013">
                <a:solidFill>
                  <a:srgbClr val="8A4A2A"/>
                </a:solidFill>
                <a:latin typeface="PingFang SC"/>
                <a:ea typeface="PingFang SC"/>
              </a:rPr>
              <a:t>安全层</a:t>
            </a:r>
            <a:r>
              <a:rPr lang="en-US" sz="1013">
                <a:solidFill>
                  <a:srgbClr val="8A4A2A"/>
                </a:solidFill>
                <a:latin typeface="PingFang SC"/>
                <a:ea typeface="PingFang SC"/>
              </a:rPr>
              <a:t> · Rollback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657225" y="4286250"/>
            <a:ext cx="6896100" cy="762000"/>
          </a:xfrm>
          <a:prstGeom prst="roundRect">
            <a:avLst>
              <a:gd name="adj" fmla="val 12500"/>
            </a:avLst>
          </a:prstGeom>
          <a:solidFill>
            <a:srgbClr val="E9EEFB"/>
          </a:solidFill>
          <a:ln/>
        </p:spPr>
        <p:txBody>
          <a:bodyPr/>
          <a:p/>
        </p:txBody>
      </p:sp>
      <p:sp>
        <p:nvSpPr>
          <p:cNvPr id="477" name=""/>
          <p:cNvSpPr/>
          <p:nvPr/>
        </p:nvSpPr>
        <p:spPr>
          <a:xfrm rot="0" flipH="0" flipV="0">
            <a:off x="657225" y="4286250"/>
            <a:ext cx="6896100" cy="762000"/>
          </a:xfrm>
          <a:custGeom>
            <a:pathLst>
              <a:path w="724" h="80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75"/>
                </a:lnTo>
                <a:cubicBezTo>
                  <a:pt x="5" y="77"/>
                  <a:pt x="7" y="79"/>
                  <a:pt x="9" y="80"/>
                </a:cubicBezTo>
                <a:cubicBezTo>
                  <a:pt x="4" y="79"/>
                  <a:pt x="0" y="75"/>
                  <a:pt x="0" y="7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828675" y="4476750"/>
            <a:ext cx="6505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B1F3B"/>
                </a:solidFill>
                <a:latin typeface="PingFang SC"/>
                <a:ea typeface="PingFang SC"/>
              </a:rPr>
              <a:t>工具连接层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28675" y="4705350"/>
            <a:ext cx="650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2F5B"/>
                </a:solidFill>
                <a:latin typeface="PingFang SC"/>
                <a:ea typeface="PingFang SC"/>
              </a:rPr>
              <a:t>MCP Client/Server</a:t>
            </a:r>
            <a:r>
              <a:rPr lang="zh-CN" sz="1013">
                <a:solidFill>
                  <a:srgbClr val="2A2F5B"/>
                </a:solidFill>
                <a:latin typeface="PingFang SC"/>
                <a:ea typeface="PingFang SC"/>
              </a:rPr>
              <a:t>（双向已实现）</a:t>
            </a:r>
            <a:r>
              <a:rPr lang="en-US" sz="1013">
                <a:solidFill>
                  <a:srgbClr val="2A2F5B"/>
                </a:solidFill>
                <a:latin typeface="PingFang SC"/>
                <a:ea typeface="PingFang SC"/>
              </a:rPr>
              <a:t>+ </a:t>
            </a:r>
            <a:r>
              <a:rPr lang="zh-CN" sz="1013">
                <a:solidFill>
                  <a:srgbClr val="2A2F5B"/>
                </a:solidFill>
                <a:latin typeface="PingFang SC"/>
                <a:ea typeface="PingFang SC"/>
              </a:rPr>
              <a:t>阿里云官方用云</a:t>
            </a:r>
            <a:r>
              <a:rPr lang="en-US" sz="1013">
                <a:solidFill>
                  <a:srgbClr val="2A2F5B"/>
                </a:solidFill>
                <a:latin typeface="PingFang SC"/>
                <a:ea typeface="PingFang SC"/>
              </a:rPr>
              <a:t> Skills</a:t>
            </a:r>
            <a:r>
              <a:rPr lang="zh-CN" sz="1013">
                <a:solidFill>
                  <a:srgbClr val="2A2F5B"/>
                </a:solidFill>
                <a:latin typeface="PingFang SC"/>
                <a:ea typeface="PingFang SC"/>
              </a:rPr>
              <a:t>（零适配）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657225" y="5133975"/>
            <a:ext cx="6896100" cy="762000"/>
          </a:xfrm>
          <a:prstGeom prst="roundRect">
            <a:avLst>
              <a:gd name="adj" fmla="val 12500"/>
            </a:avLst>
          </a:prstGeom>
          <a:solidFill>
            <a:srgbClr val="F1F3F8"/>
          </a:solidFill>
          <a:ln/>
        </p:spPr>
        <p:txBody>
          <a:bodyPr/>
          <a:p/>
        </p:txBody>
      </p:sp>
      <p:sp>
        <p:nvSpPr>
          <p:cNvPr id="481" name=""/>
          <p:cNvSpPr/>
          <p:nvPr/>
        </p:nvSpPr>
        <p:spPr>
          <a:xfrm rot="0" flipH="0" flipV="0">
            <a:off x="657225" y="5133975"/>
            <a:ext cx="6896100" cy="762000"/>
          </a:xfrm>
          <a:custGeom>
            <a:pathLst>
              <a:path w="724" h="80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75"/>
                </a:lnTo>
                <a:cubicBezTo>
                  <a:pt x="5" y="77"/>
                  <a:pt x="7" y="79"/>
                  <a:pt x="9" y="80"/>
                </a:cubicBezTo>
                <a:cubicBezTo>
                  <a:pt x="4" y="79"/>
                  <a:pt x="0" y="75"/>
                  <a:pt x="0" y="7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828675" y="5324475"/>
            <a:ext cx="6505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B1F3B"/>
                </a:solidFill>
                <a:latin typeface="PingFang SC"/>
                <a:ea typeface="PingFang SC"/>
              </a:rPr>
              <a:t>存储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828675" y="5553075"/>
            <a:ext cx="650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5168"/>
                </a:solidFill>
                <a:latin typeface="PingFang SC"/>
                <a:ea typeface="PingFang SC"/>
              </a:rPr>
              <a:t>SQLite </a:t>
            </a:r>
            <a:r>
              <a:rPr lang="zh-CN" sz="1013">
                <a:solidFill>
                  <a:srgbClr val="4A5168"/>
                </a:solidFill>
                <a:latin typeface="PingFang SC"/>
                <a:ea typeface="PingFang SC"/>
              </a:rPr>
              <a:t>状态</a:t>
            </a:r>
            <a:r>
              <a:rPr lang="en-US" sz="1013">
                <a:solidFill>
                  <a:srgbClr val="4A5168"/>
                </a:solidFill>
                <a:latin typeface="PingFang SC"/>
                <a:ea typeface="PingFang SC"/>
              </a:rPr>
              <a:t>/</a:t>
            </a:r>
            <a:r>
              <a:rPr lang="zh-CN" sz="1013">
                <a:solidFill>
                  <a:srgbClr val="4A5168"/>
                </a:solidFill>
                <a:latin typeface="PingFang SC"/>
                <a:ea typeface="PingFang SC"/>
              </a:rPr>
              <a:t>记忆</a:t>
            </a:r>
            <a:r>
              <a:rPr lang="en-US" sz="1013">
                <a:solidFill>
                  <a:srgbClr val="4A5168"/>
                </a:solidFill>
                <a:latin typeface="PingFang SC"/>
                <a:ea typeface="PingFang SC"/>
              </a:rPr>
              <a:t> · </a:t>
            </a:r>
            <a:r>
              <a:rPr lang="zh-CN" sz="1013">
                <a:solidFill>
                  <a:srgbClr val="4A5168"/>
                </a:solidFill>
                <a:latin typeface="PingFang SC"/>
                <a:ea typeface="PingFang SC"/>
              </a:rPr>
              <a:t>向量</a:t>
            </a:r>
            <a:r>
              <a:rPr lang="en-US" sz="1013">
                <a:solidFill>
                  <a:srgbClr val="4A5168"/>
                </a:solidFill>
                <a:latin typeface="PingFang SC"/>
                <a:ea typeface="PingFang SC"/>
              </a:rPr>
              <a:t> embedding · Trace JSONL</a:t>
            </a:r>
            <a:r>
              <a:rPr lang="zh-CN" sz="1013">
                <a:solidFill>
                  <a:srgbClr val="4A5168"/>
                </a:solidFill>
                <a:latin typeface="PingFang SC"/>
                <a:ea typeface="PingFang SC"/>
              </a:rPr>
              <a:t>（均可回放）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7677150" y="895350"/>
            <a:ext cx="3848100" cy="5000625"/>
          </a:xfrm>
          <a:prstGeom prst="roundRect">
            <a:avLst>
              <a:gd name="adj" fmla="val 2970"/>
            </a:avLst>
          </a:prstGeom>
          <a:solidFill>
            <a:srgbClr val="1B1F3B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7886700" y="1085850"/>
            <a:ext cx="3429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关键技术选型与必要性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7886700" y="1400175"/>
            <a:ext cx="457200" cy="381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7886700" y="165735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6B35"/>
                </a:solidFill>
                <a:latin typeface="PingFang SC"/>
                <a:ea typeface="PingFang SC"/>
              </a:rPr>
              <a:t>协同编排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8915400" y="1657350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>
                <a:solidFill>
                  <a:srgbClr val="D7DBEA"/>
                </a:solidFill>
                <a:latin typeface="PingFang SC"/>
                <a:ea typeface="PingFang SC"/>
              </a:rPr>
              <a:t>AgentTeams</a:t>
            </a:r>
            <a:r>
              <a:rPr lang="zh-CN" sz="1088">
                <a:solidFill>
                  <a:srgbClr val="D7DBEA"/>
                </a:solidFill>
                <a:latin typeface="PingFang SC"/>
                <a:ea typeface="PingFang SC"/>
              </a:rPr>
              <a:t>（赛道强制）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7886700" y="1914525"/>
            <a:ext cx="3429000" cy="361950"/>
          </a:xfrm>
          <a:custGeom>
            <a:pathLst>
              <a:path w="360" h="38">
                <a:moveTo>
                  <a:pt x="0" y="0"/>
                </a:moveTo>
                <a:lnTo>
                  <a:pt x="360" y="0"/>
                </a:lnTo>
                <a:lnTo>
                  <a:pt x="360" y="1"/>
                </a:lnTo>
                <a:lnTo>
                  <a:pt x="0" y="1"/>
                </a:lnTo>
                <a:close/>
              </a:path>
            </a:pathLst>
          </a:custGeom>
          <a:solidFill>
            <a:srgbClr val="2E3358"/>
          </a:solidFill>
          <a:ln/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7886700" y="20097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6B35"/>
                </a:solidFill>
                <a:latin typeface="PingFang SC"/>
                <a:ea typeface="PingFang SC"/>
              </a:rPr>
              <a:t>Worker </a:t>
            </a:r>
            <a:r>
              <a:rPr lang="zh-CN" sz="1050" b="1">
                <a:solidFill>
                  <a:srgbClr val="FF6B35"/>
                </a:solidFill>
                <a:latin typeface="PingFang SC"/>
                <a:ea typeface="PingFang SC"/>
              </a:rPr>
              <a:t>运行时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8915400" y="20097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>
                <a:solidFill>
                  <a:srgbClr val="D7DBEA"/>
                </a:solidFill>
                <a:latin typeface="PingFang SC"/>
                <a:ea typeface="PingFang SC"/>
              </a:rPr>
              <a:t>LoopDesk </a:t>
            </a:r>
            <a:r>
              <a:rPr lang="zh-CN" sz="1088">
                <a:solidFill>
                  <a:srgbClr val="D7DBEA"/>
                </a:solidFill>
                <a:latin typeface="PingFang SC"/>
                <a:ea typeface="PingFang SC"/>
              </a:rPr>
              <a:t>补齐官方不做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7886700" y="2266950"/>
            <a:ext cx="3429000" cy="361950"/>
          </a:xfrm>
          <a:custGeom>
            <a:pathLst>
              <a:path w="360" h="38">
                <a:moveTo>
                  <a:pt x="0" y="0"/>
                </a:moveTo>
                <a:lnTo>
                  <a:pt x="360" y="0"/>
                </a:lnTo>
                <a:lnTo>
                  <a:pt x="360" y="1"/>
                </a:lnTo>
                <a:lnTo>
                  <a:pt x="0" y="1"/>
                </a:lnTo>
                <a:close/>
              </a:path>
            </a:pathLst>
          </a:custGeom>
          <a:solidFill>
            <a:srgbClr val="2E3358"/>
          </a:soli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7886700" y="236220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6B35"/>
                </a:solidFill>
                <a:latin typeface="PingFang SC"/>
                <a:ea typeface="PingFang SC"/>
              </a:rPr>
              <a:t>工具连接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8915400" y="23622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>
                <a:solidFill>
                  <a:srgbClr val="D7DBEA"/>
                </a:solidFill>
                <a:latin typeface="PingFang SC"/>
                <a:ea typeface="PingFang SC"/>
              </a:rPr>
              <a:t>MCP</a:t>
            </a:r>
            <a:r>
              <a:rPr lang="zh-CN" sz="1088">
                <a:solidFill>
                  <a:srgbClr val="D7DBEA"/>
                </a:solidFill>
                <a:latin typeface="PingFang SC"/>
                <a:ea typeface="PingFang SC"/>
              </a:rPr>
              <a:t>（已双向实现）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7886700" y="2619375"/>
            <a:ext cx="3429000" cy="361950"/>
          </a:xfrm>
          <a:custGeom>
            <a:pathLst>
              <a:path w="360" h="38">
                <a:moveTo>
                  <a:pt x="0" y="0"/>
                </a:moveTo>
                <a:lnTo>
                  <a:pt x="360" y="0"/>
                </a:lnTo>
                <a:lnTo>
                  <a:pt x="360" y="1"/>
                </a:lnTo>
                <a:lnTo>
                  <a:pt x="0" y="1"/>
                </a:lnTo>
                <a:close/>
              </a:path>
            </a:pathLst>
          </a:custGeom>
          <a:solidFill>
            <a:srgbClr val="2E3358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7886700" y="271462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6B35"/>
                </a:solidFill>
                <a:latin typeface="PingFang SC"/>
                <a:ea typeface="PingFang SC"/>
              </a:rPr>
              <a:t>官方</a:t>
            </a:r>
            <a:r>
              <a:rPr lang="en-US" sz="1050" b="1">
                <a:solidFill>
                  <a:srgbClr val="FF6B35"/>
                </a:solidFill>
                <a:latin typeface="PingFang SC"/>
                <a:ea typeface="PingFang SC"/>
              </a:rPr>
              <a:t> Skills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8915400" y="2714625"/>
            <a:ext cx="1381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D7DBEA"/>
                </a:solidFill>
                <a:latin typeface="PingFang SC"/>
                <a:ea typeface="PingFang SC"/>
              </a:rPr>
              <a:t>阿里云用云（零适配）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7886700" y="2971800"/>
            <a:ext cx="3429000" cy="361950"/>
          </a:xfrm>
          <a:custGeom>
            <a:pathLst>
              <a:path w="360" h="38">
                <a:moveTo>
                  <a:pt x="0" y="0"/>
                </a:moveTo>
                <a:lnTo>
                  <a:pt x="360" y="0"/>
                </a:lnTo>
                <a:lnTo>
                  <a:pt x="360" y="1"/>
                </a:lnTo>
                <a:lnTo>
                  <a:pt x="0" y="1"/>
                </a:lnTo>
                <a:close/>
              </a:path>
            </a:pathLst>
          </a:custGeom>
          <a:solidFill>
            <a:srgbClr val="2E3358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7886700" y="306705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6B35"/>
                </a:solidFill>
                <a:latin typeface="PingFang SC"/>
                <a:ea typeface="PingFang SC"/>
              </a:rPr>
              <a:t>存储</a:t>
            </a:r>
            <a:r>
              <a:rPr lang="en-US" sz="1050" b="1">
                <a:solidFill>
                  <a:srgbClr val="FF6B35"/>
                </a:solidFill>
                <a:latin typeface="PingFang SC"/>
                <a:ea typeface="PingFang SC"/>
              </a:rPr>
              <a:t> / </a:t>
            </a:r>
            <a:r>
              <a:rPr lang="zh-CN" sz="1050" b="1">
                <a:solidFill>
                  <a:srgbClr val="FF6B35"/>
                </a:solidFill>
                <a:latin typeface="PingFang SC"/>
                <a:ea typeface="PingFang SC"/>
              </a:rPr>
              <a:t>可观测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8915400" y="3067050"/>
            <a:ext cx="2009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D7DBEA"/>
                </a:solidFill>
                <a:latin typeface="PingFang SC"/>
                <a:ea typeface="PingFang SC"/>
              </a:rPr>
              <a:t>可替换为</a:t>
            </a:r>
            <a:r>
              <a:rPr lang="en-US" sz="1088">
                <a:solidFill>
                  <a:srgbClr val="D7DBEA"/>
                </a:solidFill>
                <a:latin typeface="PingFang SC"/>
                <a:ea typeface="PingFang SC"/>
              </a:rPr>
              <a:t> PolarDB / LoongSuite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7886700" y="5276850"/>
            <a:ext cx="34290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7C83A8"/>
                </a:solidFill>
                <a:latin typeface="PingFang SC"/>
                <a:ea typeface="PingFang SC"/>
              </a:rPr>
              <a:t>评审不看工具数量，看必要性、接口契约、可替换性与权限边界。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502" name="" descr="&lt;Slide style={{ width:'1280px', height:'720px', background:'#1B1F3B', padding:'0', position:'relative', display:'flex', flexDirection:'column', justifyContent:'center', paddingLeft:110, overflow:'hidden' }}&gt;&#10;  &lt;Box style={{ position:'absolute', right:0, top:0, width:320, height:320, background:'linear-gradient(135deg,#FF6B35 0%, transparent 100%)', opacity:0.14 }} /&gt;&#10;  &lt;Text style={{ position:'absolute', top:70, left:90, fontSize:240, fontWeight:'bold', color:'#2A2F5B', fontFamily:'Inter', lineHeight:1, zIndex:0 }}&gt;03&lt;/Text&gt;&#10;  &lt;Box style={{ position:'relative', zIndex:1 }}&gt;&#10;    &lt;Box style={{ width:80, height:6, background:'#FF6B35', borderRadius:3, marginBottom:22 }} /&gt;&#10;    &lt;Text style={{ fontSize:48, fontWeight:'bold', color:'#FFFFFF', fontFamily:'PingFang SC' }}&gt;多 Agent 协同设计&lt;/Text&gt;&#10;    &lt;Text style={{ fontSize:19, color:'#9AA1B8', marginTop:14, fontFamily:'Inter', letterSpacing:3 }}&gt;MULTI-AGENT COLLABORATION · 评分权重 25%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1F3B"/>
          </a:solidFill>
          <a:ln/>
        </p:spPr>
        <p:txBody>
          <a:bodyPr/>
          <a:p/>
        </p:txBody>
      </p:sp>
      <p:sp>
        <p:nvSpPr>
          <p:cNvPr id="504" name=""/>
          <p:cNvSpPr/>
          <p:nvPr/>
        </p:nvSpPr>
        <p:spPr>
          <a:xfrm rot="0" flipH="0" flipV="0">
            <a:off x="9144000" y="0"/>
            <a:ext cx="3048000" cy="3048000"/>
          </a:xfrm>
          <a:prstGeom prst="rect">
            <a:avLst/>
          </a:prstGeom>
          <a:gradFill>
            <a:gsLst>
              <a:gs pos="0">
                <a:srgbClr val="FF6B35">
                  <a:alpha val="14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857250" y="666750"/>
            <a:ext cx="254317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2A2F5B"/>
                </a:solidFill>
                <a:latin typeface="Inter"/>
                <a:ea typeface="Inter"/>
              </a:rPr>
              <a:t>03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1047750" y="2847975"/>
            <a:ext cx="762000" cy="571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1047750" y="3114675"/>
            <a:ext cx="111442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PingFang SC"/>
                <a:ea typeface="PingFang SC"/>
              </a:rPr>
              <a:t>多</a:t>
            </a:r>
            <a:r>
              <a:rPr lang="en-US" sz="3600" b="1">
                <a:solidFill>
                  <a:srgbClr val="FFFFFF"/>
                </a:solidFill>
                <a:latin typeface="PingFang SC"/>
                <a:ea typeface="PingFang SC"/>
              </a:rPr>
              <a:t> Agent </a:t>
            </a:r>
            <a:r>
              <a:rPr lang="zh-CN" sz="3600" b="1">
                <a:solidFill>
                  <a:srgbClr val="FFFFFF"/>
                </a:solidFill>
                <a:latin typeface="PingFang SC"/>
                <a:ea typeface="PingFang SC"/>
              </a:rPr>
              <a:t>协同设计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1047750" y="3800475"/>
            <a:ext cx="11144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225">
                <a:solidFill>
                  <a:srgbClr val="9AA1B8"/>
                </a:solidFill>
                <a:latin typeface="Inter"/>
                <a:ea typeface="Inter"/>
              </a:rPr>
              <a:t>MULTI-AGENT COLLABORATION · </a:t>
            </a:r>
            <a:r>
              <a:rPr lang="zh-CN" sz="1425" spc="225">
                <a:solidFill>
                  <a:srgbClr val="9AA1B8"/>
                </a:solidFill>
                <a:latin typeface="Inter"/>
                <a:ea typeface="Inter"/>
              </a:rPr>
              <a:t>评分权重</a:t>
            </a:r>
            <a:r>
              <a:rPr lang="en-US" sz="1425" spc="225">
                <a:solidFill>
                  <a:srgbClr val="9AA1B8"/>
                </a:solidFill>
                <a:latin typeface="Inter"/>
                <a:ea typeface="Inter"/>
              </a:rPr>
              <a:t> 25%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" name="" descr="&lt;Slide style={{ width:'1280px', height:'720px', background:'#FFFFFF', padding:'24px 64px 40px', display:'flex', flexDirection:'column' }}&gt;&#10;  &lt;Box style={{ display:'flex', alignItems:'center', gap:14, height:64 }}&gt;&#10;    &lt;Box style={{ width:8, height:34, background:'#FF6B35', borderRadius:4 }} /&gt;&#10;    &lt;Text style={{ fontSize:30, fontWeight:'bold', color:'#1B1F3B', fontFamily:'PingFang SC' }}&gt;4 职能 Agent + 1 人类：覆盖八步闭环&lt;/Text&gt;&#10;  &lt;/Box&gt;&#10;  &lt;Box style={{ display:'flex', alignItems:'stretch', gap:6, marginTop:6 }}&gt;&#10;    {[&#10;      { ic:'project-diagram', n:'loopdesk-planner', r:'拆解与重规划', c:'#2A2F5B' },&#10;      { ic:'code', n:'loopdesk-executor', r:'隔离 worktree 修复', c:'#2A2F5B' },&#10;      { ic:'shield-alt', n:'loopdesk-verifier ★', r:'独立验证 · 只读', c:'#FF6B35' },&#10;      { ic:'seedling', n:'loopdesk-curator', r:'经验蒸馏为新 Skill', c:'#2A2F5B' },&#10;    ].map((a, i) =&gt; (&#10;      &lt;Box key={i} style={{ flex:1, background: a.c==='#FF6B35' ? '#FFF4EE' : '#F5F7FB', border: a.c==='#FF6B35' ? '2px solid #FF6B35' : '2px solid #E2E6EF', borderRadius:12, padding:'16px 14px', display:'flex', flexDirection:'column', alignItems:'center', textAlign:'center' }}&gt;&#10;        &lt;Box style={{ width:48, height:48, borderRadius:12, background: a.c==='#FF6B35' ? '#FF6B35' : '#2A2F5B', justifyContent:'center', alignItems:'center' }}&gt;&#10;          &lt;FAIcon name={a.ic} style={{ fill:'#FFFFFF', width:24, height:24 }} /&gt;&#10;        &lt;/Box&gt;&#10;        &lt;Text style={{ fontSize:15.5, fontWeight:'bold', color:'#1B1F3B', marginTop:10, fontFamily:'Inter' }}&gt;{a.n}&lt;/Text&gt;&#10;        &lt;Text style={{ fontSize:13.5, color:'#4A5168', marginTop:4, fontFamily:'PingFang SC' }}&gt;{a.r}&lt;/Text&gt;&#10;      &lt;/Box&gt;&#10;    ))}&#10;  &lt;/Box&gt;&#10;  &lt;Box style={{ display:'flex', justifyContent:'center', marginTop:14 }}&gt;&#10;    &lt;Box style={{ background:'#1B1F3B', borderRadius:10, padding:'12px 26px', display:'flex', alignItems:'center', gap:14 }}&gt;&#10;      &lt;FAIcon name='user-shield' style={{ fill:'#FF6B35', width:26, height:26 }} /&gt;&#10;      &lt;Text style={{ fontSize:17, fontWeight:'bold', color:'#FFFFFF', fontFamily:'PingFang SC' }}&gt;loopdesk-approver（AgentTeams Human CRD）· 高风险动作人工审批门禁&lt;/Text&gt;&#10;    &lt;/Box&gt;&#10;  &lt;/Box&gt;&#10;  &lt;Text style={{ fontSize:15, fontWeight:'bold', color:'#FF6B35', marginTop:18, fontFamily:'PingFang SC' }}&gt;Verifier 独立性的三重工程强制（全案技术壁垒）&lt;/Text&gt;&#10;  &lt;Box style={{ display:'flex', gap:16, marginTop:10 }}&gt;&#10;    {[&#10;      { ic:'eye-slash', t:'上下文隔离', b:'Verifier 拿任务原始验收标准，看不到 Executor 的自检说明，从源头切断确认偏误。' },&#10;      { ic:'lock', t:'权限隔离', b:'Verifier 是只读角色，权限矩阵强制，物理上不能改代码来让测试通过。' },&#10;      { ic:'fingerprint', t:'证据锚定', b:'判定只依据真实命令退出码与产物哈希，不接受任何自然语言断言。' },&#10;    ].map((x, i) =&gt; (&#10;      &lt;Box key={i} style={{ flex:1, background:'#E9EEFB', borderRadius:12, padding:'16px 18px', height:150, display:'flex', flexDirection:'column' }}&gt;&#10;        &lt;FAIcon name={x.ic} style={{ fill:'#2A2F5B', width:28, height:28 }} /&gt;&#10;        &lt;Text style={{ fontSize:18, fontWeight:'bold', color:'#1B1F3B', marginTop:10, fontFamily:'PingFang SC' }}&gt;{x.t}&lt;/Text&gt;&#10;        &lt;Text style={{ fontSize:14, color:'#4A5168', lineHeight:1.55, marginTop:6, fontFamily:'PingFang SC' }}&gt;{x.b}&lt;/Text&gt;&#10;      &lt;/Box&gt;&#10;    ))}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371475"/>
            <a:ext cx="76200" cy="3238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19150" y="361950"/>
            <a:ext cx="4886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B1F3B"/>
                </a:solidFill>
                <a:latin typeface="PingFang SC"/>
                <a:ea typeface="PingFang SC"/>
              </a:rPr>
              <a:t>4 </a:t>
            </a:r>
            <a:r>
              <a:rPr lang="zh-CN" sz="2250" b="1">
                <a:solidFill>
                  <a:srgbClr val="1B1F3B"/>
                </a:solidFill>
                <a:latin typeface="PingFang SC"/>
                <a:ea typeface="PingFang SC"/>
              </a:rPr>
              <a:t>职能</a:t>
            </a:r>
            <a:r>
              <a:rPr lang="en-US" sz="2250" b="1">
                <a:solidFill>
                  <a:srgbClr val="1B1F3B"/>
                </a:solidFill>
                <a:latin typeface="PingFang SC"/>
                <a:ea typeface="PingFang SC"/>
              </a:rPr>
              <a:t> Agent + 1 </a:t>
            </a:r>
            <a:r>
              <a:rPr lang="zh-CN" sz="2250" b="1">
                <a:solidFill>
                  <a:srgbClr val="1B1F3B"/>
                </a:solidFill>
                <a:latin typeface="PingFang SC"/>
                <a:ea typeface="PingFang SC"/>
              </a:rPr>
              <a:t>人类：覆盖八步闭环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609600" y="895350"/>
            <a:ext cx="2705100" cy="1238250"/>
          </a:xfrm>
          <a:prstGeom prst="roundRect">
            <a:avLst>
              <a:gd name="adj" fmla="val 9231"/>
            </a:avLst>
          </a:prstGeom>
          <a:solidFill>
            <a:srgbClr val="F5F7FB"/>
          </a:solidFill>
          <a:ln w="25400">
            <a:solidFill>
              <a:srgbClr val="E2E6EF"/>
            </a:solidFill>
            <a:prstDash val="solid"/>
          </a:ln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1733550" y="10477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A2F5B"/>
          </a:solidFill>
          <a:ln/>
        </p:spPr>
        <p:txBody>
          <a:bodyPr/>
          <a:p/>
        </p:txBody>
      </p:sp>
      <p:pic>
        <p:nvPicPr>
          <p:cNvPr id="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847850" y="1162050"/>
            <a:ext cx="228600" cy="228600"/>
          </a:xfrm>
          <a:prstGeom prst="rect">
            <a:avLst/>
          </a:prstGeom>
          <a:ln/>
        </p:spPr>
      </p:pic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343025" y="1600200"/>
            <a:ext cx="123825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63" b="1">
                <a:solidFill>
                  <a:srgbClr val="1B1F3B"/>
                </a:solidFill>
                <a:latin typeface="Inter"/>
                <a:ea typeface="Inter"/>
              </a:rPr>
              <a:t>loopdesk-planner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581150" y="1819275"/>
            <a:ext cx="7715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3">
                <a:solidFill>
                  <a:srgbClr val="4A5168"/>
                </a:solidFill>
                <a:latin typeface="PingFang SC"/>
                <a:ea typeface="PingFang SC"/>
              </a:rPr>
              <a:t>拆解与重规划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3371850" y="895350"/>
            <a:ext cx="2695575" cy="1238250"/>
          </a:xfrm>
          <a:prstGeom prst="roundRect">
            <a:avLst>
              <a:gd name="adj" fmla="val 9231"/>
            </a:avLst>
          </a:prstGeom>
          <a:solidFill>
            <a:srgbClr val="F5F7FB"/>
          </a:solidFill>
          <a:ln w="25400">
            <a:solidFill>
              <a:srgbClr val="E2E6EF"/>
            </a:solidFill>
            <a:prstDash val="solid"/>
          </a:ln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4495800" y="10477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A2F5B"/>
          </a:solidFill>
          <a:ln/>
        </p:spPr>
        <p:txBody>
          <a:bodyPr/>
          <a:p/>
        </p:txBody>
      </p:sp>
      <p:pic>
        <p:nvPicPr>
          <p:cNvPr id="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10100" y="1162050"/>
            <a:ext cx="228600" cy="228600"/>
          </a:xfrm>
          <a:prstGeom prst="rect">
            <a:avLst/>
          </a:prstGeom>
          <a:ln/>
        </p:spPr>
      </p:pic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067175" y="1600200"/>
            <a:ext cx="131445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63" b="1">
                <a:solidFill>
                  <a:srgbClr val="1B1F3B"/>
                </a:solidFill>
                <a:latin typeface="Inter"/>
                <a:ea typeface="Inter"/>
              </a:rPr>
              <a:t>loopdesk-executor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162425" y="1819275"/>
            <a:ext cx="11239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3">
                <a:solidFill>
                  <a:srgbClr val="4A5168"/>
                </a:solidFill>
                <a:latin typeface="PingFang SC"/>
                <a:ea typeface="PingFang SC"/>
              </a:rPr>
              <a:t>隔离</a:t>
            </a:r>
            <a:r>
              <a:rPr lang="en-US" sz="1013">
                <a:solidFill>
                  <a:srgbClr val="4A5168"/>
                </a:solidFill>
                <a:latin typeface="PingFang SC"/>
                <a:ea typeface="PingFang SC"/>
              </a:rPr>
              <a:t> worktree </a:t>
            </a:r>
            <a:r>
              <a:rPr lang="zh-CN" sz="1013">
                <a:solidFill>
                  <a:srgbClr val="4A5168"/>
                </a:solidFill>
                <a:latin typeface="PingFang SC"/>
                <a:ea typeface="PingFang SC"/>
              </a:rPr>
              <a:t>修复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6124575" y="895350"/>
            <a:ext cx="2705100" cy="1238250"/>
          </a:xfrm>
          <a:prstGeom prst="roundRect">
            <a:avLst>
              <a:gd name="adj" fmla="val 9231"/>
            </a:avLst>
          </a:prstGeom>
          <a:solidFill>
            <a:srgbClr val="FFF4EE"/>
          </a:solidFill>
          <a:ln w="254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7248525" y="10477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/>
        </p:spPr>
        <p:txBody>
          <a:bodyPr/>
          <a:p/>
        </p:txBody>
      </p:sp>
      <p:pic>
        <p:nvPicPr>
          <p:cNvPr id="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362825" y="1162050"/>
            <a:ext cx="228600" cy="228600"/>
          </a:xfrm>
          <a:prstGeom prst="rect">
            <a:avLst/>
          </a:prstGeom>
          <a:ln/>
        </p:spPr>
      </p:pic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791325" y="1600200"/>
            <a:ext cx="1381125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63" b="1">
                <a:solidFill>
                  <a:srgbClr val="1B1F3B"/>
                </a:solidFill>
                <a:latin typeface="Inter"/>
                <a:ea typeface="Inter"/>
              </a:rPr>
              <a:t>loopdesk-verifier ★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019925" y="1819275"/>
            <a:ext cx="9239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3">
                <a:solidFill>
                  <a:srgbClr val="4A5168"/>
                </a:solidFill>
                <a:latin typeface="PingFang SC"/>
                <a:ea typeface="PingFang SC"/>
              </a:rPr>
              <a:t>独立验证</a:t>
            </a:r>
            <a:r>
              <a:rPr lang="en-US" sz="1013">
                <a:solidFill>
                  <a:srgbClr val="4A5168"/>
                </a:solidFill>
                <a:latin typeface="PingFang SC"/>
                <a:ea typeface="PingFang SC"/>
              </a:rPr>
              <a:t> · </a:t>
            </a:r>
            <a:r>
              <a:rPr lang="zh-CN" sz="1013">
                <a:solidFill>
                  <a:srgbClr val="4A5168"/>
                </a:solidFill>
                <a:latin typeface="PingFang SC"/>
                <a:ea typeface="PingFang SC"/>
              </a:rPr>
              <a:t>只读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8886825" y="895350"/>
            <a:ext cx="2695575" cy="1238250"/>
          </a:xfrm>
          <a:prstGeom prst="roundRect">
            <a:avLst>
              <a:gd name="adj" fmla="val 9231"/>
            </a:avLst>
          </a:prstGeom>
          <a:solidFill>
            <a:srgbClr val="F5F7FB"/>
          </a:solidFill>
          <a:ln w="25400">
            <a:solidFill>
              <a:srgbClr val="E2E6EF"/>
            </a:solidFill>
            <a:prstDash val="solid"/>
          </a:ln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10010775" y="10477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A2F5B"/>
          </a:solidFill>
          <a:ln/>
        </p:spPr>
        <p:txBody>
          <a:bodyPr/>
          <a:p/>
        </p:txBody>
      </p:sp>
      <p:pic>
        <p:nvPicPr>
          <p:cNvPr id="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0125075" y="1162050"/>
            <a:ext cx="228600" cy="228600"/>
          </a:xfrm>
          <a:prstGeom prst="rect">
            <a:avLst/>
          </a:prstGeom>
          <a:ln/>
        </p:spPr>
      </p:pic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9629775" y="1600200"/>
            <a:ext cx="1209675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63" b="1">
                <a:solidFill>
                  <a:srgbClr val="1B1F3B"/>
                </a:solidFill>
                <a:latin typeface="Inter"/>
                <a:ea typeface="Inter"/>
              </a:rPr>
              <a:t>loopdesk-curator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705975" y="1819275"/>
            <a:ext cx="105727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3">
                <a:solidFill>
                  <a:srgbClr val="4A5168"/>
                </a:solidFill>
                <a:latin typeface="PingFang SC"/>
                <a:ea typeface="PingFang SC"/>
              </a:rPr>
              <a:t>经验蒸馏为新</a:t>
            </a:r>
            <a:r>
              <a:rPr lang="en-US" sz="1013">
                <a:solidFill>
                  <a:srgbClr val="4A5168"/>
                </a:solidFill>
                <a:latin typeface="PingFang SC"/>
                <a:ea typeface="PingFang SC"/>
              </a:rPr>
              <a:t> Skill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2819400" y="2266950"/>
            <a:ext cx="6562725" cy="476250"/>
          </a:xfrm>
          <a:prstGeom prst="roundRect">
            <a:avLst>
              <a:gd name="adj" fmla="val 20000"/>
            </a:avLst>
          </a:prstGeom>
          <a:solidFill>
            <a:srgbClr val="1B1F3B"/>
          </a:solidFill>
          <a:ln/>
        </p:spPr>
        <p:txBody>
          <a:bodyPr/>
          <a:p/>
        </p:txBody>
      </p:sp>
      <p:pic>
        <p:nvPicPr>
          <p:cNvPr id="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067050" y="2381250"/>
            <a:ext cx="247650" cy="247650"/>
          </a:xfrm>
          <a:prstGeom prst="rect">
            <a:avLst/>
          </a:prstGeom>
          <a:ln/>
        </p:spPr>
      </p:pic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3448050" y="2409825"/>
            <a:ext cx="5686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loopdesk-approver</a:t>
            </a: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（</a:t>
            </a: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AgentTeams Human CRD</a:t>
            </a: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）·</a:t>
            </a: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 </a:t>
            </a: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高风险动作人工审批门禁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09600" y="29146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6B35"/>
                </a:solidFill>
                <a:latin typeface="PingFang SC"/>
                <a:ea typeface="PingFang SC"/>
              </a:rPr>
              <a:t>Verifier </a:t>
            </a:r>
            <a:r>
              <a:rPr lang="zh-CN" sz="1125" b="1">
                <a:solidFill>
                  <a:srgbClr val="FF6B35"/>
                </a:solidFill>
                <a:latin typeface="PingFang SC"/>
                <a:ea typeface="PingFang SC"/>
              </a:rPr>
              <a:t>独立性的三重工程强制（全案技术壁垒）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09600" y="3181350"/>
            <a:ext cx="3552825" cy="1428750"/>
          </a:xfrm>
          <a:prstGeom prst="roundRect">
            <a:avLst>
              <a:gd name="adj" fmla="val 8000"/>
            </a:avLst>
          </a:prstGeom>
          <a:solidFill>
            <a:srgbClr val="E9EEFB"/>
          </a:solidFill>
          <a:ln/>
        </p:spPr>
        <p:txBody>
          <a:bodyPr/>
          <a:p/>
        </p:txBody>
      </p:sp>
      <p:pic>
        <p:nvPicPr>
          <p:cNvPr id="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81050" y="3333750"/>
            <a:ext cx="266700" cy="266700"/>
          </a:xfrm>
          <a:prstGeom prst="rect">
            <a:avLst/>
          </a:prstGeom>
          <a:ln/>
        </p:spPr>
      </p:pic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81050" y="3695700"/>
            <a:ext cx="3209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B1F3B"/>
                </a:solidFill>
                <a:latin typeface="PingFang SC"/>
                <a:ea typeface="PingFang SC"/>
              </a:rPr>
              <a:t>上下文隔离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81050" y="3962400"/>
            <a:ext cx="32099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4A5168"/>
                </a:solidFill>
                <a:latin typeface="PingFang SC"/>
                <a:ea typeface="PingFang SC"/>
              </a:rPr>
              <a:t>Verifier </a:t>
            </a: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拿任务原始验收标准，看不到</a:t>
            </a:r>
            <a:r>
              <a:rPr lang="en-US" sz="1050">
                <a:solidFill>
                  <a:srgbClr val="4A5168"/>
                </a:solidFill>
                <a:latin typeface="PingFang SC"/>
                <a:ea typeface="PingFang SC"/>
              </a:rPr>
              <a:t> Executor </a:t>
            </a: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的自检说明，从源头切断确认偏误。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4314825" y="3181350"/>
            <a:ext cx="3562350" cy="1428750"/>
          </a:xfrm>
          <a:prstGeom prst="roundRect">
            <a:avLst>
              <a:gd name="adj" fmla="val 8000"/>
            </a:avLst>
          </a:prstGeom>
          <a:solidFill>
            <a:srgbClr val="E9EEFB"/>
          </a:solidFill>
          <a:ln/>
        </p:spPr>
        <p:txBody>
          <a:bodyPr/>
          <a:p/>
        </p:txBody>
      </p:sp>
      <p:pic>
        <p:nvPicPr>
          <p:cNvPr id="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4486275" y="3333750"/>
            <a:ext cx="266700" cy="266700"/>
          </a:xfrm>
          <a:prstGeom prst="rect">
            <a:avLst/>
          </a:prstGeom>
          <a:ln/>
        </p:spPr>
      </p:pic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486275" y="3695700"/>
            <a:ext cx="3219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B1F3B"/>
                </a:solidFill>
                <a:latin typeface="PingFang SC"/>
                <a:ea typeface="PingFang SC"/>
              </a:rPr>
              <a:t>权限隔离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486275" y="3962400"/>
            <a:ext cx="32194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4A5168"/>
                </a:solidFill>
                <a:latin typeface="PingFang SC"/>
                <a:ea typeface="PingFang SC"/>
              </a:rPr>
              <a:t>Verifier </a:t>
            </a: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是只读角色，权限矩阵强制，物理上不能改代码来让测试通过。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8029575" y="3181350"/>
            <a:ext cx="3552825" cy="1428750"/>
          </a:xfrm>
          <a:prstGeom prst="roundRect">
            <a:avLst>
              <a:gd name="adj" fmla="val 8000"/>
            </a:avLst>
          </a:prstGeom>
          <a:solidFill>
            <a:srgbClr val="E9EEFB"/>
          </a:solidFill>
          <a:ln/>
        </p:spPr>
        <p:txBody>
          <a:bodyPr/>
          <a:p/>
        </p:txBody>
      </p:sp>
      <p:pic>
        <p:nvPicPr>
          <p:cNvPr id="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8201025" y="3333750"/>
            <a:ext cx="266700" cy="266700"/>
          </a:xfrm>
          <a:prstGeom prst="rect">
            <a:avLst/>
          </a:prstGeom>
          <a:ln/>
        </p:spPr>
      </p:pic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201025" y="3695700"/>
            <a:ext cx="3209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B1F3B"/>
                </a:solidFill>
                <a:latin typeface="PingFang SC"/>
                <a:ea typeface="PingFang SC"/>
              </a:rPr>
              <a:t>证据锚定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201025" y="3962400"/>
            <a:ext cx="32099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判定只依据真实命令退出码与产物哈希，不接受任何自然语言断言。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41" name="" descr="&lt;Slide style={{ width:'1280px', height:'720px', background:'#1B1F3B', padding:'0', position:'relative', display:'flex', flexDirection:'column', justifyContent:'center', paddingLeft:110, overflow:'hidden' }}&gt;&#10;  &lt;Box style={{ position:'absolute', right:0, top:0, width:320, height:320, background:'linear-gradient(135deg,#FF6B35 0%, transparent 100%)', opacity:0.14 }} /&gt;&#10;  &lt;Text style={{ position:'absolute', top:70, left:90, fontSize:240, fontWeight:'bold', color:'#2A2F5B', fontFamily:'Inter', lineHeight:1, zIndex:0 }}&gt;04&lt;/Text&gt;&#10;  &lt;Box style={{ position:'relative', zIndex:1 }}&gt;&#10;    &lt;Box style={{ width:80, height:6, background:'#FF6B35', borderRadius:3, marginBottom:22 }} /&gt;&#10;    &lt;Text style={{ fontSize:48, fontWeight:'bold', color:'#FFFFFF', fontFamily:'PingFang SC' }}&gt;Skill 工程体系&lt;/Text&gt;&#10;    &lt;Text style={{ fontSize:19, color:'#9AA1B8', marginTop:14, fontFamily:'Inter', letterSpacing:3 }}&gt;SKILL ENGINEERING · 评分权重 25% · 本赛题必选项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1F3B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9144000" y="0"/>
            <a:ext cx="3048000" cy="3048000"/>
          </a:xfrm>
          <a:prstGeom prst="rect">
            <a:avLst/>
          </a:prstGeom>
          <a:gradFill>
            <a:gsLst>
              <a:gs pos="0">
                <a:srgbClr val="FF6B35">
                  <a:alpha val="14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57250" y="666750"/>
            <a:ext cx="254317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2A2F5B"/>
                </a:solidFill>
                <a:latin typeface="Inter"/>
                <a:ea typeface="Inter"/>
              </a:rPr>
              <a:t>04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1047750" y="2847975"/>
            <a:ext cx="762000" cy="571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047750" y="3114675"/>
            <a:ext cx="111442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FFFF"/>
                </a:solidFill>
                <a:latin typeface="PingFang SC"/>
                <a:ea typeface="PingFang SC"/>
              </a:rPr>
              <a:t>Skill </a:t>
            </a:r>
            <a:r>
              <a:rPr lang="zh-CN" sz="3600" b="1">
                <a:solidFill>
                  <a:srgbClr val="FFFFFF"/>
                </a:solidFill>
                <a:latin typeface="PingFang SC"/>
                <a:ea typeface="PingFang SC"/>
              </a:rPr>
              <a:t>工程体系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047750" y="3800475"/>
            <a:ext cx="11144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225">
                <a:solidFill>
                  <a:srgbClr val="9AA1B8"/>
                </a:solidFill>
                <a:latin typeface="Inter"/>
                <a:ea typeface="Inter"/>
              </a:rPr>
              <a:t>SKILL ENGINEERING · </a:t>
            </a:r>
            <a:r>
              <a:rPr lang="zh-CN" sz="1425" spc="225">
                <a:solidFill>
                  <a:srgbClr val="9AA1B8"/>
                </a:solidFill>
                <a:latin typeface="Inter"/>
                <a:ea typeface="Inter"/>
              </a:rPr>
              <a:t>评分权重</a:t>
            </a:r>
            <a:r>
              <a:rPr lang="en-US" sz="1425" spc="225">
                <a:solidFill>
                  <a:srgbClr val="9AA1B8"/>
                </a:solidFill>
                <a:latin typeface="Inter"/>
                <a:ea typeface="Inter"/>
              </a:rPr>
              <a:t> 25% · </a:t>
            </a:r>
            <a:r>
              <a:rPr lang="zh-CN" sz="1425" spc="225">
                <a:solidFill>
                  <a:srgbClr val="9AA1B8"/>
                </a:solidFill>
                <a:latin typeface="Inter"/>
                <a:ea typeface="Inter"/>
              </a:rPr>
              <a:t>本赛题必选项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48" name="" descr="&lt;Slide style={{ width:'1280px', height:'720px', background:'#FFFFFF', padding:'24px 64px 40px', display:'flex', flexDirection:'column' }}&gt;&#10;  &lt;Box style={{ display:'flex', alignItems:'center', gap:14, height:64 }}&gt;&#10;    &lt;Box style={{ width:8, height:34, background:'#FF6B35', borderRadius:4 }} /&gt;&#10;    &lt;Text style={{ fontSize:30, fontWeight:'bold', color:'#1B1F3B', fontFamily:'PingFang SC' }}&gt;Skill 工程体系：三层来源 + 7 个新建核心&lt;/Text&gt;&#10;  &lt;/Box&gt;&#10;  &lt;Box style={{ display:'flex', gap:16, marginTop:6 }}&gt;&#10;    {[&#10;      { t:'A · 阿里云官方用云 Skills', d:'按需选用 · 零适配加载 · skills.aliyun.com 收录', bg:'#E9EEFB', tag:'评分项点名' },&#10;      { t:'B · LoopDesk 已有 Skill', d:'62 个 bundled，其中 14 个研发可直接复用（git/5 语言探针/skill-creator…）', bg:'#E9EEFB', tag:'已在代码运行' },&#10;      { t:'C · 本方案新建核心 Skill', d:'7 个：独立验证闭环最小能力集，补齐 AgentTeams 运行时可靠性', bg:'#FFF4EE', tag:'7 个新建', hl:true },&#10;    ].map((c, i) =&gt; (&#10;      &lt;Box key={i} style={{ flex:1, background:c.bg, border: c.hl ? '2px solid #FF6B35' : '2px solid #D7DEEC', borderRadius:12, padding:'16px 18px', height:150, display:'flex', flexDirection:'column' }}&gt;&#10;        &lt;Text style={{ fontSize:18, fontWeight:'bold', color:'#1B1F3B', fontFamily:'PingFang SC' }}&gt;{c.t}&lt;/Text&gt;&#10;        &lt;Text style={{ fontSize:14, color:'#4A5168', lineHeight:1.55, marginTop:8, fontFamily:'PingFang SC' }}&gt;{c.d}&lt;/Text&gt;&#10;        &lt;Box style={{ marginTop:'auto', alignSelf:'flex-start', background: c.hl ? '#FF6B35' : '#2A2F5B', borderRadius:6, padding:'4px 10px' }}&gt;&#10;          &lt;Text style={{ fontSize:12.5, color:'#FFFFFF', fontFamily:'PingFang SC' }}&gt;{c.tag}&lt;/Text&gt;&#10;        &lt;/Box&gt;&#10;      &lt;/Box&gt;&#10;    ))}&#10;  &lt;/Box&gt;&#10;  &lt;Text style={{ fontSize:15, fontWeight:'bold', color:'#FF6B35', marginTop:18, fontFamily:'PingFang SC' }}&gt;7 个新建 Skill（附录 B 格式 · 覆盖八步闭环 2/3/5/6/7/8 步）&lt;/Text&gt;&#10;  &lt;Box style={{ display:'flex', flexWrap:'wrap', gap:12, marginTop:10 }}&gt;&#10;    {[&#10;      { n:'TaskDecompose', r:'任务拆解与契约生成' },&#10;      { n:'ClaimAndLease', r:'任务租约与并行隔离' },&#10;      { n:'RepairTask', r:'缺陷修复执行' },&#10;      { n:'IndependentVerify ★', r:'独立验证（核心）' },&#10;      { n:'EvidenceDeposit', r:'证据沉淀与打包' },&#10;      { n:'HumanGate', r:'人工审批门禁' },&#10;      { n:'ExperienceDistill', r:'经验蒸馏' },&#10;    ].map((s, i) =&gt; (&#10;      &lt;Box key={i} style={{ width:268, height:74, background:'#F5F7FB', borderLeft:'4px solid #FF6B35', borderRadius:'0 10px 10px 0', padding:'12px 16px', display:'flex', flexDirection:'column', justifyContent:'center' }}&gt;&#10;        &lt;Text style={{ fontSize:15.5, fontWeight:'bold', color:'#1B1F3B', fontFamily:'Inter' }}&gt;{s.n}&lt;/Text&gt;&#10;        &lt;Text style={{ fontSize:13, color:'#6B7280', marginTop:3, fontFamily:'PingFang SC' }}&gt;{s.r}&lt;/Text&gt;&#10;      &lt;/Box&gt;&#10;    ))}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609600" y="371475"/>
            <a:ext cx="76200" cy="3238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19150" y="361950"/>
            <a:ext cx="52863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B1F3B"/>
                </a:solidFill>
                <a:latin typeface="PingFang SC"/>
                <a:ea typeface="PingFang SC"/>
              </a:rPr>
              <a:t>Skill </a:t>
            </a:r>
            <a:r>
              <a:rPr lang="zh-CN" sz="2250" b="1">
                <a:solidFill>
                  <a:srgbClr val="1B1F3B"/>
                </a:solidFill>
                <a:latin typeface="PingFang SC"/>
                <a:ea typeface="PingFang SC"/>
              </a:rPr>
              <a:t>工程体系：三层来源</a:t>
            </a:r>
            <a:r>
              <a:rPr lang="en-US" sz="2250" b="1">
                <a:solidFill>
                  <a:srgbClr val="1B1F3B"/>
                </a:solidFill>
                <a:latin typeface="PingFang SC"/>
                <a:ea typeface="PingFang SC"/>
              </a:rPr>
              <a:t> + 7 </a:t>
            </a:r>
            <a:r>
              <a:rPr lang="zh-CN" sz="2250" b="1">
                <a:solidFill>
                  <a:srgbClr val="1B1F3B"/>
                </a:solidFill>
                <a:latin typeface="PingFang SC"/>
                <a:ea typeface="PingFang SC"/>
              </a:rPr>
              <a:t>个新建核心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609600" y="895350"/>
            <a:ext cx="3552825" cy="1428750"/>
          </a:xfrm>
          <a:prstGeom prst="roundRect">
            <a:avLst>
              <a:gd name="adj" fmla="val 8000"/>
            </a:avLst>
          </a:prstGeom>
          <a:solidFill>
            <a:srgbClr val="E9EEFB"/>
          </a:solidFill>
          <a:ln w="25400">
            <a:solidFill>
              <a:srgbClr val="D7DEEC"/>
            </a:solidFill>
            <a:prstDash val="solid"/>
          </a:ln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81050" y="1047750"/>
            <a:ext cx="3209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B1F3B"/>
                </a:solidFill>
                <a:latin typeface="PingFang SC"/>
                <a:ea typeface="PingFang SC"/>
              </a:rPr>
              <a:t>A · </a:t>
            </a:r>
            <a:r>
              <a:rPr lang="zh-CN" sz="1350" b="1">
                <a:solidFill>
                  <a:srgbClr val="1B1F3B"/>
                </a:solidFill>
                <a:latin typeface="PingFang SC"/>
                <a:ea typeface="PingFang SC"/>
              </a:rPr>
              <a:t>阿里云官方用云</a:t>
            </a:r>
            <a:r>
              <a:rPr lang="en-US" sz="1350" b="1">
                <a:solidFill>
                  <a:srgbClr val="1B1F3B"/>
                </a:solidFill>
                <a:latin typeface="PingFang SC"/>
                <a:ea typeface="PingFang SC"/>
              </a:rPr>
              <a:t> Skills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81050" y="1333500"/>
            <a:ext cx="320992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按需选用</a:t>
            </a:r>
            <a:r>
              <a:rPr lang="en-US" sz="1050">
                <a:solidFill>
                  <a:srgbClr val="4A5168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零适配加载</a:t>
            </a:r>
            <a:r>
              <a:rPr lang="en-US" sz="1050">
                <a:solidFill>
                  <a:srgbClr val="4A5168"/>
                </a:solidFill>
                <a:latin typeface="PingFang SC"/>
                <a:ea typeface="PingFang SC"/>
              </a:rPr>
              <a:t> · skills.aliyun.com </a:t>
            </a: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收录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781050" y="1952625"/>
            <a:ext cx="790575" cy="219075"/>
          </a:xfrm>
          <a:prstGeom prst="roundRect">
            <a:avLst>
              <a:gd name="adj" fmla="val 26087"/>
            </a:avLst>
          </a:prstGeom>
          <a:solidFill>
            <a:srgbClr val="2A2F5B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76300" y="1990725"/>
            <a:ext cx="60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FFFFF"/>
                </a:solidFill>
                <a:latin typeface="PingFang SC"/>
                <a:ea typeface="PingFang SC"/>
              </a:rPr>
              <a:t>评分项点名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4314825" y="895350"/>
            <a:ext cx="3562350" cy="1428750"/>
          </a:xfrm>
          <a:prstGeom prst="roundRect">
            <a:avLst>
              <a:gd name="adj" fmla="val 8000"/>
            </a:avLst>
          </a:prstGeom>
          <a:solidFill>
            <a:srgbClr val="E9EEFB"/>
          </a:solidFill>
          <a:ln w="25400">
            <a:solidFill>
              <a:srgbClr val="D7DEEC"/>
            </a:solidFill>
            <a:prstDash val="solid"/>
          </a:ln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486275" y="1047750"/>
            <a:ext cx="3219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B1F3B"/>
                </a:solidFill>
                <a:latin typeface="PingFang SC"/>
                <a:ea typeface="PingFang SC"/>
              </a:rPr>
              <a:t>B · LoopDesk </a:t>
            </a:r>
            <a:r>
              <a:rPr lang="zh-CN" sz="1350" b="1">
                <a:solidFill>
                  <a:srgbClr val="1B1F3B"/>
                </a:solidFill>
                <a:latin typeface="PingFang SC"/>
                <a:ea typeface="PingFang SC"/>
              </a:rPr>
              <a:t>已有</a:t>
            </a:r>
            <a:r>
              <a:rPr lang="en-US" sz="1350" b="1">
                <a:solidFill>
                  <a:srgbClr val="1B1F3B"/>
                </a:solidFill>
                <a:latin typeface="PingFang SC"/>
                <a:ea typeface="PingFang SC"/>
              </a:rPr>
              <a:t> Skill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486275" y="1333500"/>
            <a:ext cx="32194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4A5168"/>
                </a:solidFill>
                <a:latin typeface="PingFang SC"/>
                <a:ea typeface="PingFang SC"/>
              </a:rPr>
              <a:t>62 </a:t>
            </a: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个</a:t>
            </a:r>
            <a:r>
              <a:rPr lang="en-US" sz="1050">
                <a:solidFill>
                  <a:srgbClr val="4A5168"/>
                </a:solidFill>
                <a:latin typeface="PingFang SC"/>
                <a:ea typeface="PingFang SC"/>
              </a:rPr>
              <a:t> bundled</a:t>
            </a: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，其中</a:t>
            </a:r>
            <a:r>
              <a:rPr lang="en-US" sz="1050">
                <a:solidFill>
                  <a:srgbClr val="4A5168"/>
                </a:solidFill>
                <a:latin typeface="PingFang SC"/>
                <a:ea typeface="PingFang SC"/>
              </a:rPr>
              <a:t> 14 </a:t>
            </a: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个研发可直接复用（</a:t>
            </a:r>
            <a:r>
              <a:rPr lang="en-US" sz="1050">
                <a:solidFill>
                  <a:srgbClr val="4A5168"/>
                </a:solidFill>
                <a:latin typeface="PingFang SC"/>
                <a:ea typeface="PingFang SC"/>
              </a:rPr>
              <a:t>git/5 </a:t>
            </a: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语言探针</a:t>
            </a:r>
            <a:r>
              <a:rPr lang="en-US" sz="1050">
                <a:solidFill>
                  <a:srgbClr val="4A5168"/>
                </a:solidFill>
                <a:latin typeface="PingFang SC"/>
                <a:ea typeface="PingFang SC"/>
              </a:rPr>
              <a:t>/skill-creator…</a:t>
            </a: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4486275" y="1952625"/>
            <a:ext cx="904875" cy="219075"/>
          </a:xfrm>
          <a:prstGeom prst="roundRect">
            <a:avLst>
              <a:gd name="adj" fmla="val 26087"/>
            </a:avLst>
          </a:prstGeom>
          <a:solidFill>
            <a:srgbClr val="2A2F5B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581525" y="1990725"/>
            <a:ext cx="714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FFFFF"/>
                </a:solidFill>
                <a:latin typeface="PingFang SC"/>
                <a:ea typeface="PingFang SC"/>
              </a:rPr>
              <a:t>已在代码运行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8029575" y="895350"/>
            <a:ext cx="3552825" cy="1428750"/>
          </a:xfrm>
          <a:prstGeom prst="roundRect">
            <a:avLst>
              <a:gd name="adj" fmla="val 8000"/>
            </a:avLst>
          </a:prstGeom>
          <a:solidFill>
            <a:srgbClr val="FFF4EE"/>
          </a:solidFill>
          <a:ln w="254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201025" y="1047750"/>
            <a:ext cx="3209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B1F3B"/>
                </a:solidFill>
                <a:latin typeface="PingFang SC"/>
                <a:ea typeface="PingFang SC"/>
              </a:rPr>
              <a:t>C · </a:t>
            </a:r>
            <a:r>
              <a:rPr lang="zh-CN" sz="1350" b="1">
                <a:solidFill>
                  <a:srgbClr val="1B1F3B"/>
                </a:solidFill>
                <a:latin typeface="PingFang SC"/>
                <a:ea typeface="PingFang SC"/>
              </a:rPr>
              <a:t>本方案新建核心</a:t>
            </a:r>
            <a:r>
              <a:rPr lang="en-US" sz="1350" b="1">
                <a:solidFill>
                  <a:srgbClr val="1B1F3B"/>
                </a:solidFill>
                <a:latin typeface="PingFang SC"/>
                <a:ea typeface="PingFang SC"/>
              </a:rPr>
              <a:t> Skill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201025" y="1333500"/>
            <a:ext cx="32099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4A5168"/>
                </a:solidFill>
                <a:latin typeface="PingFang SC"/>
                <a:ea typeface="PingFang SC"/>
              </a:rPr>
              <a:t>7 </a:t>
            </a: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个：独立验证闭环最小能力集，补齐</a:t>
            </a:r>
            <a:r>
              <a:rPr lang="en-US" sz="1050">
                <a:solidFill>
                  <a:srgbClr val="4A5168"/>
                </a:solidFill>
                <a:latin typeface="PingFang SC"/>
                <a:ea typeface="PingFang SC"/>
              </a:rPr>
              <a:t> AgentTeams </a:t>
            </a: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运行时可靠性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8201025" y="1952625"/>
            <a:ext cx="657225" cy="219075"/>
          </a:xfrm>
          <a:prstGeom prst="roundRect">
            <a:avLst>
              <a:gd name="adj" fmla="val 26087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296275" y="1990725"/>
            <a:ext cx="466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FFFFFF"/>
                </a:solidFill>
                <a:latin typeface="PingFang SC"/>
                <a:ea typeface="PingFang SC"/>
              </a:rPr>
              <a:t>7 </a:t>
            </a:r>
            <a:r>
              <a:rPr lang="zh-CN" sz="938">
                <a:solidFill>
                  <a:srgbClr val="FFFFFF"/>
                </a:solidFill>
                <a:latin typeface="PingFang SC"/>
                <a:ea typeface="PingFang SC"/>
              </a:rPr>
              <a:t>个新建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6B35"/>
                </a:solidFill>
                <a:latin typeface="PingFang SC"/>
                <a:ea typeface="PingFang SC"/>
              </a:rPr>
              <a:t>7 </a:t>
            </a:r>
            <a:r>
              <a:rPr lang="zh-CN" sz="1125" b="1">
                <a:solidFill>
                  <a:srgbClr val="FF6B35"/>
                </a:solidFill>
                <a:latin typeface="PingFang SC"/>
                <a:ea typeface="PingFang SC"/>
              </a:rPr>
              <a:t>个新建</a:t>
            </a:r>
            <a:r>
              <a:rPr lang="en-US" sz="1125" b="1">
                <a:solidFill>
                  <a:srgbClr val="FF6B35"/>
                </a:solidFill>
                <a:latin typeface="PingFang SC"/>
                <a:ea typeface="PingFang SC"/>
              </a:rPr>
              <a:t> Skill</a:t>
            </a:r>
            <a:r>
              <a:rPr lang="zh-CN" sz="1125" b="1">
                <a:solidFill>
                  <a:srgbClr val="FF6B35"/>
                </a:solidFill>
                <a:latin typeface="PingFang SC"/>
                <a:ea typeface="PingFang SC"/>
              </a:rPr>
              <a:t>（附录</a:t>
            </a:r>
            <a:r>
              <a:rPr lang="en-US" sz="1125" b="1">
                <a:solidFill>
                  <a:srgbClr val="FF6B35"/>
                </a:solidFill>
                <a:latin typeface="PingFang SC"/>
                <a:ea typeface="PingFang SC"/>
              </a:rPr>
              <a:t> B </a:t>
            </a:r>
            <a:r>
              <a:rPr lang="zh-CN" sz="1125" b="1">
                <a:solidFill>
                  <a:srgbClr val="FF6B35"/>
                </a:solidFill>
                <a:latin typeface="PingFang SC"/>
                <a:ea typeface="PingFang SC"/>
              </a:rPr>
              <a:t>格式</a:t>
            </a:r>
            <a:r>
              <a:rPr lang="en-US" sz="1125" b="1">
                <a:solidFill>
                  <a:srgbClr val="FF6B35"/>
                </a:solidFill>
                <a:latin typeface="PingFang SC"/>
                <a:ea typeface="PingFang SC"/>
              </a:rPr>
              <a:t> · </a:t>
            </a:r>
            <a:r>
              <a:rPr lang="zh-CN" sz="1125" b="1">
                <a:solidFill>
                  <a:srgbClr val="FF6B35"/>
                </a:solidFill>
                <a:latin typeface="PingFang SC"/>
                <a:ea typeface="PingFang SC"/>
              </a:rPr>
              <a:t>覆盖八步闭环</a:t>
            </a:r>
            <a:r>
              <a:rPr lang="en-US" sz="1125" b="1">
                <a:solidFill>
                  <a:srgbClr val="FF6B35"/>
                </a:solidFill>
                <a:latin typeface="PingFang SC"/>
                <a:ea typeface="PingFang SC"/>
              </a:rPr>
              <a:t> 2/3/5/6/7/8 </a:t>
            </a:r>
            <a:r>
              <a:rPr lang="zh-CN" sz="1125" b="1">
                <a:solidFill>
                  <a:srgbClr val="FF6B35"/>
                </a:solidFill>
                <a:latin typeface="PingFang SC"/>
                <a:ea typeface="PingFang SC"/>
              </a:rPr>
              <a:t>步）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47700" y="2762250"/>
            <a:ext cx="2514600" cy="704850"/>
          </a:xfrm>
          <a:custGeom>
            <a:pathLst>
              <a:path w="264" h="74">
                <a:moveTo>
                  <a:pt x="0" y="0"/>
                </a:moveTo>
                <a:lnTo>
                  <a:pt x="254" y="0"/>
                </a:lnTo>
                <a:cubicBezTo>
                  <a:pt x="260" y="0"/>
                  <a:pt x="264" y="4"/>
                  <a:pt x="264" y="10"/>
                </a:cubicBezTo>
                <a:lnTo>
                  <a:pt x="264" y="64"/>
                </a:lnTo>
                <a:cubicBezTo>
                  <a:pt x="264" y="70"/>
                  <a:pt x="260" y="74"/>
                  <a:pt x="254" y="74"/>
                </a:cubicBezTo>
                <a:lnTo>
                  <a:pt x="0" y="74"/>
                </a:lnTo>
                <a:lnTo>
                  <a:pt x="0" y="7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647700" y="2762250"/>
            <a:ext cx="2514600" cy="704850"/>
          </a:xfrm>
          <a:custGeom>
            <a:pathLst>
              <a:path w="264" h="74">
                <a:moveTo>
                  <a:pt x="4" y="74"/>
                </a:moveTo>
                <a:lnTo>
                  <a:pt x="0" y="74"/>
                </a:ln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00100" y="2933700"/>
            <a:ext cx="2209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1B1F3B"/>
                </a:solidFill>
                <a:latin typeface="Inter"/>
                <a:ea typeface="Inter"/>
              </a:rPr>
              <a:t>TaskDecompose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00100" y="314325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PingFang SC"/>
                <a:ea typeface="PingFang SC"/>
              </a:rPr>
              <a:t>任务拆解与契约生成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3314700" y="2762250"/>
            <a:ext cx="2514600" cy="704850"/>
          </a:xfrm>
          <a:custGeom>
            <a:pathLst>
              <a:path w="264" h="74">
                <a:moveTo>
                  <a:pt x="0" y="0"/>
                </a:moveTo>
                <a:lnTo>
                  <a:pt x="254" y="0"/>
                </a:lnTo>
                <a:cubicBezTo>
                  <a:pt x="260" y="0"/>
                  <a:pt x="264" y="4"/>
                  <a:pt x="264" y="10"/>
                </a:cubicBezTo>
                <a:lnTo>
                  <a:pt x="264" y="64"/>
                </a:lnTo>
                <a:cubicBezTo>
                  <a:pt x="264" y="70"/>
                  <a:pt x="260" y="74"/>
                  <a:pt x="254" y="74"/>
                </a:cubicBezTo>
                <a:lnTo>
                  <a:pt x="0" y="74"/>
                </a:lnTo>
                <a:lnTo>
                  <a:pt x="0" y="7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3314700" y="2762250"/>
            <a:ext cx="2514600" cy="704850"/>
          </a:xfrm>
          <a:custGeom>
            <a:pathLst>
              <a:path w="264" h="74">
                <a:moveTo>
                  <a:pt x="4" y="74"/>
                </a:moveTo>
                <a:lnTo>
                  <a:pt x="0" y="74"/>
                </a:ln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3467100" y="2933700"/>
            <a:ext cx="2209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1B1F3B"/>
                </a:solidFill>
                <a:latin typeface="Inter"/>
                <a:ea typeface="Inter"/>
              </a:rPr>
              <a:t>ClaimAndLease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3467100" y="314325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PingFang SC"/>
                <a:ea typeface="PingFang SC"/>
              </a:rPr>
              <a:t>任务租约与并行隔离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5981700" y="2762250"/>
            <a:ext cx="2514600" cy="704850"/>
          </a:xfrm>
          <a:custGeom>
            <a:pathLst>
              <a:path w="264" h="74">
                <a:moveTo>
                  <a:pt x="0" y="0"/>
                </a:moveTo>
                <a:lnTo>
                  <a:pt x="254" y="0"/>
                </a:lnTo>
                <a:cubicBezTo>
                  <a:pt x="260" y="0"/>
                  <a:pt x="264" y="4"/>
                  <a:pt x="264" y="10"/>
                </a:cubicBezTo>
                <a:lnTo>
                  <a:pt x="264" y="64"/>
                </a:lnTo>
                <a:cubicBezTo>
                  <a:pt x="264" y="70"/>
                  <a:pt x="260" y="74"/>
                  <a:pt x="254" y="74"/>
                </a:cubicBezTo>
                <a:lnTo>
                  <a:pt x="0" y="74"/>
                </a:lnTo>
                <a:lnTo>
                  <a:pt x="0" y="7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5981700" y="2762250"/>
            <a:ext cx="2514600" cy="704850"/>
          </a:xfrm>
          <a:custGeom>
            <a:pathLst>
              <a:path w="264" h="74">
                <a:moveTo>
                  <a:pt x="4" y="74"/>
                </a:moveTo>
                <a:lnTo>
                  <a:pt x="0" y="74"/>
                </a:ln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134100" y="2933700"/>
            <a:ext cx="2209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1B1F3B"/>
                </a:solidFill>
                <a:latin typeface="Inter"/>
                <a:ea typeface="Inter"/>
              </a:rPr>
              <a:t>RepairTask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134100" y="314325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PingFang SC"/>
                <a:ea typeface="PingFang SC"/>
              </a:rPr>
              <a:t>缺陷修复执行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8648700" y="2762250"/>
            <a:ext cx="2514600" cy="704850"/>
          </a:xfrm>
          <a:custGeom>
            <a:pathLst>
              <a:path w="264" h="74">
                <a:moveTo>
                  <a:pt x="0" y="0"/>
                </a:moveTo>
                <a:lnTo>
                  <a:pt x="254" y="0"/>
                </a:lnTo>
                <a:cubicBezTo>
                  <a:pt x="260" y="0"/>
                  <a:pt x="264" y="4"/>
                  <a:pt x="264" y="10"/>
                </a:cubicBezTo>
                <a:lnTo>
                  <a:pt x="264" y="64"/>
                </a:lnTo>
                <a:cubicBezTo>
                  <a:pt x="264" y="70"/>
                  <a:pt x="260" y="74"/>
                  <a:pt x="254" y="74"/>
                </a:cubicBezTo>
                <a:lnTo>
                  <a:pt x="0" y="74"/>
                </a:lnTo>
                <a:lnTo>
                  <a:pt x="0" y="7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8648700" y="2762250"/>
            <a:ext cx="2514600" cy="704850"/>
          </a:xfrm>
          <a:custGeom>
            <a:pathLst>
              <a:path w="264" h="74">
                <a:moveTo>
                  <a:pt x="4" y="74"/>
                </a:moveTo>
                <a:lnTo>
                  <a:pt x="0" y="74"/>
                </a:ln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801100" y="2933700"/>
            <a:ext cx="2209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1B1F3B"/>
                </a:solidFill>
                <a:latin typeface="Inter"/>
                <a:ea typeface="Inter"/>
              </a:rPr>
              <a:t>IndependentVerify ★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801100" y="314325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PingFang SC"/>
                <a:ea typeface="PingFang SC"/>
              </a:rPr>
              <a:t>独立验证（核心）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47700" y="3581400"/>
            <a:ext cx="2514600" cy="704850"/>
          </a:xfrm>
          <a:custGeom>
            <a:pathLst>
              <a:path w="264" h="74">
                <a:moveTo>
                  <a:pt x="0" y="0"/>
                </a:moveTo>
                <a:lnTo>
                  <a:pt x="254" y="0"/>
                </a:lnTo>
                <a:cubicBezTo>
                  <a:pt x="260" y="0"/>
                  <a:pt x="264" y="4"/>
                  <a:pt x="264" y="10"/>
                </a:cubicBezTo>
                <a:lnTo>
                  <a:pt x="264" y="64"/>
                </a:lnTo>
                <a:cubicBezTo>
                  <a:pt x="264" y="70"/>
                  <a:pt x="260" y="74"/>
                  <a:pt x="254" y="74"/>
                </a:cubicBezTo>
                <a:lnTo>
                  <a:pt x="0" y="74"/>
                </a:lnTo>
                <a:lnTo>
                  <a:pt x="0" y="7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647700" y="3581400"/>
            <a:ext cx="2514600" cy="704850"/>
          </a:xfrm>
          <a:custGeom>
            <a:pathLst>
              <a:path w="264" h="74">
                <a:moveTo>
                  <a:pt x="4" y="74"/>
                </a:moveTo>
                <a:lnTo>
                  <a:pt x="0" y="74"/>
                </a:ln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00100" y="3752850"/>
            <a:ext cx="2209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1B1F3B"/>
                </a:solidFill>
                <a:latin typeface="Inter"/>
                <a:ea typeface="Inter"/>
              </a:rPr>
              <a:t>EvidenceDeposit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00100" y="396240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PingFang SC"/>
                <a:ea typeface="PingFang SC"/>
              </a:rPr>
              <a:t>证据沉淀与打包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3314700" y="3581400"/>
            <a:ext cx="2514600" cy="704850"/>
          </a:xfrm>
          <a:custGeom>
            <a:pathLst>
              <a:path w="264" h="74">
                <a:moveTo>
                  <a:pt x="0" y="0"/>
                </a:moveTo>
                <a:lnTo>
                  <a:pt x="254" y="0"/>
                </a:lnTo>
                <a:cubicBezTo>
                  <a:pt x="260" y="0"/>
                  <a:pt x="264" y="4"/>
                  <a:pt x="264" y="10"/>
                </a:cubicBezTo>
                <a:lnTo>
                  <a:pt x="264" y="64"/>
                </a:lnTo>
                <a:cubicBezTo>
                  <a:pt x="264" y="70"/>
                  <a:pt x="260" y="74"/>
                  <a:pt x="254" y="74"/>
                </a:cubicBezTo>
                <a:lnTo>
                  <a:pt x="0" y="74"/>
                </a:lnTo>
                <a:lnTo>
                  <a:pt x="0" y="7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3314700" y="3581400"/>
            <a:ext cx="2514600" cy="704850"/>
          </a:xfrm>
          <a:custGeom>
            <a:pathLst>
              <a:path w="264" h="74">
                <a:moveTo>
                  <a:pt x="4" y="74"/>
                </a:moveTo>
                <a:lnTo>
                  <a:pt x="0" y="74"/>
                </a:ln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3467100" y="3752850"/>
            <a:ext cx="2209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1B1F3B"/>
                </a:solidFill>
                <a:latin typeface="Inter"/>
                <a:ea typeface="Inter"/>
              </a:rPr>
              <a:t>HumanGate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467100" y="396240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PingFang SC"/>
                <a:ea typeface="PingFang SC"/>
              </a:rPr>
              <a:t>人工审批门禁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5981700" y="3581400"/>
            <a:ext cx="2514600" cy="704850"/>
          </a:xfrm>
          <a:custGeom>
            <a:pathLst>
              <a:path w="264" h="74">
                <a:moveTo>
                  <a:pt x="0" y="0"/>
                </a:moveTo>
                <a:lnTo>
                  <a:pt x="254" y="0"/>
                </a:lnTo>
                <a:cubicBezTo>
                  <a:pt x="260" y="0"/>
                  <a:pt x="264" y="4"/>
                  <a:pt x="264" y="10"/>
                </a:cubicBezTo>
                <a:lnTo>
                  <a:pt x="264" y="64"/>
                </a:lnTo>
                <a:cubicBezTo>
                  <a:pt x="264" y="70"/>
                  <a:pt x="260" y="74"/>
                  <a:pt x="254" y="74"/>
                </a:cubicBezTo>
                <a:lnTo>
                  <a:pt x="0" y="74"/>
                </a:lnTo>
                <a:lnTo>
                  <a:pt x="0" y="7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5981700" y="3581400"/>
            <a:ext cx="2514600" cy="704850"/>
          </a:xfrm>
          <a:custGeom>
            <a:pathLst>
              <a:path w="264" h="74">
                <a:moveTo>
                  <a:pt x="4" y="74"/>
                </a:moveTo>
                <a:lnTo>
                  <a:pt x="0" y="74"/>
                </a:ln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134100" y="3752850"/>
            <a:ext cx="2209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1B1F3B"/>
                </a:solidFill>
                <a:latin typeface="Inter"/>
                <a:ea typeface="Inter"/>
              </a:rPr>
              <a:t>ExperienceDistill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134100" y="396240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PingFang SC"/>
                <a:ea typeface="PingFang SC"/>
              </a:rPr>
              <a:t>经验蒸馏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96" name="" descr="&lt;Slide style={{ width:'1280px', height:'720px', background:'#1B1F3B', padding:'0', position:'relative', display:'flex', flexDirection:'column', justifyContent:'center', paddingLeft:110, overflow:'hidden' }}&gt;&#10;  &lt;Box style={{ position:'absolute', right:0, top:0, width:320, height:320, background:'linear-gradient(135deg,#FF6B35 0%, transparent 100%)', opacity:0.14 }} /&gt;&#10;  &lt;Text style={{ position:'absolute', top:70, left:90, fontSize:240, fontWeight:'bold', color:'#2A2F5B', fontFamily:'Inter', lineHeight:1, zIndex:0 }}&gt;05&lt;/Text&gt;&#10;  &lt;Box style={{ position:'relative', zIndex:1 }}&gt;&#10;    &lt;Box style={{ width:80, height:6, background:'#FF6B35', borderRadius:3, marginBottom:22 }} /&gt;&#10;    &lt;Text style={{ fontSize:48, fontWeight:'bold', color:'#FFFFFF', fontFamily:'PingFang SC' }}&gt;工程落地 · 安全可审计&lt;/Text&gt;&#10;    &lt;Text style={{ fontSize:19, color:'#9AA1B8', marginTop:14, fontFamily:'Inter', letterSpacing:3 }}&gt;ENGINEERING &amp;amp; AUDITABILITY · 评分权重 20%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1F3B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9144000" y="0"/>
            <a:ext cx="3048000" cy="3048000"/>
          </a:xfrm>
          <a:prstGeom prst="rect">
            <a:avLst/>
          </a:prstGeom>
          <a:gradFill>
            <a:gsLst>
              <a:gs pos="0">
                <a:srgbClr val="FF6B35">
                  <a:alpha val="14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57250" y="666750"/>
            <a:ext cx="254317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2A2F5B"/>
                </a:solidFill>
                <a:latin typeface="Inter"/>
                <a:ea typeface="Inter"/>
              </a:rPr>
              <a:t>05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1047750" y="2847975"/>
            <a:ext cx="762000" cy="571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047750" y="3114675"/>
            <a:ext cx="111442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PingFang SC"/>
                <a:ea typeface="PingFang SC"/>
              </a:rPr>
              <a:t>工程落地</a:t>
            </a:r>
            <a:r>
              <a:rPr lang="en-US" sz="3600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3600" b="1">
                <a:solidFill>
                  <a:srgbClr val="FFFFFF"/>
                </a:solidFill>
                <a:latin typeface="PingFang SC"/>
                <a:ea typeface="PingFang SC"/>
              </a:rPr>
              <a:t>安全可审计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047750" y="3800475"/>
            <a:ext cx="11144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225">
                <a:solidFill>
                  <a:srgbClr val="9AA1B8"/>
                </a:solidFill>
                <a:latin typeface="Inter"/>
                <a:ea typeface="Inter"/>
              </a:rPr>
              <a:t>ENGINEERING &amp; AUDITABILITY · </a:t>
            </a:r>
            <a:r>
              <a:rPr lang="zh-CN" sz="1425" spc="225">
                <a:solidFill>
                  <a:srgbClr val="9AA1B8"/>
                </a:solidFill>
                <a:latin typeface="Inter"/>
                <a:ea typeface="Inter"/>
              </a:rPr>
              <a:t>评分权重</a:t>
            </a:r>
            <a:r>
              <a:rPr lang="en-US" sz="1425" spc="225">
                <a:solidFill>
                  <a:srgbClr val="9AA1B8"/>
                </a:solidFill>
                <a:latin typeface="Inter"/>
                <a:ea typeface="Inter"/>
              </a:rPr>
              <a:t> 20%</a:t>
            </a:r>
            <a:endParaRPr/>
          </a:p>
        </p:txBody>
      </p:sp>
    </p:spTree>
  </p:cSld>
</p:sld>
</file>

<file path=ppt/slides/slide1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03" name="" descr="&lt;Slide style={{ width:'1280px', height:'720px', background:'#FFFFFF', padding:'24px 64px 40px', display:'flex', flexDirection:'column' }}&gt;&#10;  &lt;Box style={{ display:'flex', alignItems:'center', gap:14, height:64 }}&gt;&#10;    &lt;Box style={{ width:8, height:34, background:'#FF6B35', borderRadius:4 }} /&gt;&#10;    &lt;Text style={{ fontSize:30, fontWeight:'bold', color:'#1B1F3B', fontFamily:'PingFang SC' }}&gt;工程落地、运行验证与安全可审计&lt;/Text&gt;&#10;  &lt;/Box&gt;&#10;  &lt;Box style={{ display:'flex', gap:16, marginTop:6 }}&gt;&#10;    {[&#10;      { ic:'chart-line', t:'可观测', sub:'Trace / Log / Metrics', items:[['Trace JSONL 逐步回放','已实现'],['结构化日志按 TraceId 关联','已实现'],['指标复用预算模块 → Grafana','已实现']] },&#10;      { ic:'shield-alt', t:'安全治理', sub:'权限 / 凭证 / 门禁', items:[['权限矩阵按角色分级','已实现'],['Higress 凭证隔离','已实现'],['human gate 高风险拦截','已实现'],['worktree 回滚 / 预算硬上限','已实现']] },&#10;      { ic:'clipboard-check', t:'运行验证', sub:'可复现实证（命中红线③）', items:[['自举回归集（真实 bug commit）','新建'],['端到端 Demo 路径','新建'],['Badcase 抓 False-Done','新建'],['证据物清单 Receipt/Trace','新建']] },&#10;    ].map((col, i) =&gt; (&#10;      &lt;Box key={i} style={{ width:368, background:'#F5F7FB', borderRadius:12, overflow:'hidden', display:'flex', flexDirection:'column' }}&gt;&#10;        &lt;Box style={{ background:'#1B1F3B', padding:'14px 18px', display:'flex', alignItems:'center', gap:12 }}&gt;&#10;          &lt;FAIcon name={col.ic} style={{ fill:'#FF6B35', width:24, height:24 }} /&gt;&#10;          &lt;Box&gt;&#10;            &lt;Text style={{ fontSize:18, fontWeight:'bold', color:'#FFFFFF', fontFamily:'PingFang SC' }}&gt;{col.t}&lt;/Text&gt;&#10;            &lt;Text style={{ fontSize:12.5, color:'#9AA1B8', fontFamily:'PingFang SC' }}&gt;{col.sub}&lt;/Text&gt;&#10;          &lt;/Box&gt;&#10;        &lt;/Box&gt;&#10;        &lt;Box style={{ padding:'14px 18px', display:'flex', flexDirection:'column', gap:11 }}&gt;&#10;          {col.items.map((it, j) =&gt; (&#10;            &lt;Box key={j} style={{ display:'flex', alignItems:'center', gap:10 }}&gt;&#10;              &lt;Box style={{ width:7, height:7, borderRadius:4, background:'#FF6B35' }} /&gt;&#10;              &lt;Text style={{ fontSize:14, color:'#1B1F3B', flex:1, fontFamily:'PingFang SC' }}&gt;{it[0]}&lt;/Text&gt;&#10;              &lt;Text style={{ fontSize:11.5, color: it[1]==='已实现' ? '#2A8A5B' : '#FF6B35', fontWeight:'bold', fontFamily:'Inter' }}&gt;[{it[1]}]&lt;/Text&gt;&#10;            &lt;/Box&gt;&#10;          ))}&#10;        &lt;/Box&gt;&#10;      &lt;/Box&gt;&#10;    ))}&#10;  &lt;/Box&gt;&#10;  &lt;Box style={{ background:'#FFEDE4', borderRadius:12, padding:'16px 22px', marginTop:16, display:'flex', alignItems:'center', gap:18 }}&gt;&#10;    &lt;Text style={{ fontSize:34, fontWeight:'bold', color:'#FF6B35', fontFamily:'Inter' }}&gt;False-Done Rate&lt;/Text&gt;&#10;    &lt;Text style={{ fontSize:16, color:'#5A3320', lineHeight:1.5, fontFamily:'PingFang SC' }}&gt;招牌指标——&lt;Text style={{ fontWeight:'bold' }}&gt;误报完成率&lt;/Text&gt;：Agent 声称完成但 Verifier 判定未通过的比例，直接量化“自报告不可信”这一核心命题。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609600" y="371475"/>
            <a:ext cx="76200" cy="3238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19150" y="361950"/>
            <a:ext cx="4286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B1F3B"/>
                </a:solidFill>
                <a:latin typeface="PingFang SC"/>
                <a:ea typeface="PingFang SC"/>
              </a:rPr>
              <a:t>工程落地、运行验证与安全可审计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09600" y="895350"/>
            <a:ext cx="3505200" cy="1847850"/>
          </a:xfrm>
          <a:prstGeom prst="roundRect">
            <a:avLst>
              <a:gd name="adj" fmla="val 6186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609600" y="895350"/>
            <a:ext cx="3505200" cy="619125"/>
          </a:xfrm>
          <a:custGeom>
            <a:pathLst>
              <a:path w="368" h="65">
                <a:moveTo>
                  <a:pt x="356" y="0"/>
                </a:moveTo>
                <a:cubicBezTo>
                  <a:pt x="363" y="0"/>
                  <a:pt x="368" y="5"/>
                  <a:pt x="368" y="12"/>
                </a:cubicBezTo>
                <a:lnTo>
                  <a:pt x="368" y="65"/>
                </a:lnTo>
                <a:lnTo>
                  <a:pt x="0" y="65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356" y="0"/>
                </a:lnTo>
                <a:close/>
              </a:path>
            </a:pathLst>
          </a:custGeom>
          <a:solidFill>
            <a:srgbClr val="1B1F3B"/>
          </a:solidFill>
          <a:ln/>
        </p:spPr>
        <p:txBody>
          <a:bodyPr/>
          <a:p/>
        </p:txBody>
      </p:sp>
      <p:pic>
        <p:nvPicPr>
          <p:cNvPr id="1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1050" y="1095375"/>
            <a:ext cx="228600" cy="228600"/>
          </a:xfrm>
          <a:prstGeom prst="rect">
            <a:avLst/>
          </a:prstGeom>
          <a:ln/>
        </p:spPr>
      </p:pic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123950" y="1028700"/>
            <a:ext cx="1219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可观测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123950" y="1238250"/>
            <a:ext cx="121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9AA1B8"/>
                </a:solidFill>
                <a:latin typeface="PingFang SC"/>
                <a:ea typeface="PingFang SC"/>
              </a:rPr>
              <a:t>Trace / Log / Metrics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781050" y="16954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942975" y="1647825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B1F3B"/>
                </a:solidFill>
                <a:latin typeface="PingFang SC"/>
                <a:ea typeface="PingFang SC"/>
              </a:rPr>
              <a:t>Trace JSONL </a:t>
            </a:r>
            <a:r>
              <a:rPr lang="zh-CN" sz="1050">
                <a:solidFill>
                  <a:srgbClr val="1B1F3B"/>
                </a:solidFill>
                <a:latin typeface="PingFang SC"/>
                <a:ea typeface="PingFang SC"/>
              </a:rPr>
              <a:t>逐步回放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3533775" y="1666875"/>
            <a:ext cx="409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2A8A5B"/>
                </a:solidFill>
                <a:latin typeface="Inter"/>
                <a:ea typeface="Inter"/>
              </a:rPr>
              <a:t>[</a:t>
            </a:r>
            <a:r>
              <a:rPr lang="zh-CN" sz="863" b="1">
                <a:solidFill>
                  <a:srgbClr val="2A8A5B"/>
                </a:solidFill>
                <a:latin typeface="Inter"/>
                <a:ea typeface="Inter"/>
              </a:rPr>
              <a:t>已实现</a:t>
            </a:r>
            <a:r>
              <a:rPr lang="en-US" sz="863" b="1">
                <a:solidFill>
                  <a:srgbClr val="2A8A5B"/>
                </a:solidFill>
                <a:latin typeface="Inter"/>
                <a:ea typeface="Inter"/>
              </a:rPr>
              <a:t>]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781050" y="19621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942975" y="1914525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1F3B"/>
                </a:solidFill>
                <a:latin typeface="PingFang SC"/>
                <a:ea typeface="PingFang SC"/>
              </a:rPr>
              <a:t>结构化日志按</a:t>
            </a:r>
            <a:r>
              <a:rPr lang="en-US" sz="1050">
                <a:solidFill>
                  <a:srgbClr val="1B1F3B"/>
                </a:solidFill>
                <a:latin typeface="PingFang SC"/>
                <a:ea typeface="PingFang SC"/>
              </a:rPr>
              <a:t> TraceId </a:t>
            </a:r>
            <a:r>
              <a:rPr lang="zh-CN" sz="1050">
                <a:solidFill>
                  <a:srgbClr val="1B1F3B"/>
                </a:solidFill>
                <a:latin typeface="PingFang SC"/>
                <a:ea typeface="PingFang SC"/>
              </a:rPr>
              <a:t>关联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533775" y="1933575"/>
            <a:ext cx="409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2A8A5B"/>
                </a:solidFill>
                <a:latin typeface="Inter"/>
                <a:ea typeface="Inter"/>
              </a:rPr>
              <a:t>[</a:t>
            </a:r>
            <a:r>
              <a:rPr lang="zh-CN" sz="863" b="1">
                <a:solidFill>
                  <a:srgbClr val="2A8A5B"/>
                </a:solidFill>
                <a:latin typeface="Inter"/>
                <a:ea typeface="Inter"/>
              </a:rPr>
              <a:t>已实现</a:t>
            </a:r>
            <a:r>
              <a:rPr lang="en-US" sz="863" b="1">
                <a:solidFill>
                  <a:srgbClr val="2A8A5B"/>
                </a:solidFill>
                <a:latin typeface="Inter"/>
                <a:ea typeface="Inter"/>
              </a:rPr>
              <a:t>]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781050" y="22288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942975" y="2181225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1F3B"/>
                </a:solidFill>
                <a:latin typeface="PingFang SC"/>
                <a:ea typeface="PingFang SC"/>
              </a:rPr>
              <a:t>指标复用预算模块</a:t>
            </a:r>
            <a:r>
              <a:rPr lang="en-US" sz="1050">
                <a:solidFill>
                  <a:srgbClr val="1B1F3B"/>
                </a:solidFill>
                <a:latin typeface="PingFang SC"/>
                <a:ea typeface="PingFang SC"/>
              </a:rPr>
              <a:t> → Grafana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533775" y="2200275"/>
            <a:ext cx="409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2A8A5B"/>
                </a:solidFill>
                <a:latin typeface="Inter"/>
                <a:ea typeface="Inter"/>
              </a:rPr>
              <a:t>[</a:t>
            </a:r>
            <a:r>
              <a:rPr lang="zh-CN" sz="863" b="1">
                <a:solidFill>
                  <a:srgbClr val="2A8A5B"/>
                </a:solidFill>
                <a:latin typeface="Inter"/>
                <a:ea typeface="Inter"/>
              </a:rPr>
              <a:t>已实现</a:t>
            </a:r>
            <a:r>
              <a:rPr lang="en-US" sz="863" b="1">
                <a:solidFill>
                  <a:srgbClr val="2A8A5B"/>
                </a:solidFill>
                <a:latin typeface="Inter"/>
                <a:ea typeface="Inter"/>
              </a:rPr>
              <a:t>]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4267200" y="895350"/>
            <a:ext cx="3505200" cy="1847850"/>
          </a:xfrm>
          <a:prstGeom prst="roundRect">
            <a:avLst>
              <a:gd name="adj" fmla="val 6186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4267200" y="895350"/>
            <a:ext cx="3505200" cy="619125"/>
          </a:xfrm>
          <a:custGeom>
            <a:pathLst>
              <a:path w="368" h="65">
                <a:moveTo>
                  <a:pt x="356" y="0"/>
                </a:moveTo>
                <a:cubicBezTo>
                  <a:pt x="363" y="0"/>
                  <a:pt x="368" y="5"/>
                  <a:pt x="368" y="12"/>
                </a:cubicBezTo>
                <a:lnTo>
                  <a:pt x="368" y="65"/>
                </a:lnTo>
                <a:lnTo>
                  <a:pt x="0" y="65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356" y="0"/>
                </a:lnTo>
                <a:close/>
              </a:path>
            </a:pathLst>
          </a:custGeom>
          <a:solidFill>
            <a:srgbClr val="1B1F3B"/>
          </a:solidFill>
          <a:ln/>
        </p:spPr>
        <p:txBody>
          <a:bodyPr/>
          <a:p/>
        </p:txBody>
      </p:sp>
      <p:pic>
        <p:nvPicPr>
          <p:cNvPr id="1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38650" y="1095375"/>
            <a:ext cx="228600" cy="228600"/>
          </a:xfrm>
          <a:prstGeom prst="rect">
            <a:avLst/>
          </a:prstGeom>
          <a:ln/>
        </p:spPr>
      </p:pic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781550" y="1028700"/>
            <a:ext cx="1000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安全治理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781550" y="1238250"/>
            <a:ext cx="1000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AA1B8"/>
                </a:solidFill>
                <a:latin typeface="PingFang SC"/>
                <a:ea typeface="PingFang SC"/>
              </a:rPr>
              <a:t>权限</a:t>
            </a:r>
            <a:r>
              <a:rPr lang="en-US" sz="938">
                <a:solidFill>
                  <a:srgbClr val="9AA1B8"/>
                </a:solidFill>
                <a:latin typeface="PingFang SC"/>
                <a:ea typeface="PingFang SC"/>
              </a:rPr>
              <a:t> / </a:t>
            </a:r>
            <a:r>
              <a:rPr lang="zh-CN" sz="938">
                <a:solidFill>
                  <a:srgbClr val="9AA1B8"/>
                </a:solidFill>
                <a:latin typeface="PingFang SC"/>
                <a:ea typeface="PingFang SC"/>
              </a:rPr>
              <a:t>凭证</a:t>
            </a:r>
            <a:r>
              <a:rPr lang="en-US" sz="938">
                <a:solidFill>
                  <a:srgbClr val="9AA1B8"/>
                </a:solidFill>
                <a:latin typeface="PingFang SC"/>
                <a:ea typeface="PingFang SC"/>
              </a:rPr>
              <a:t> / </a:t>
            </a:r>
            <a:r>
              <a:rPr lang="zh-CN" sz="938">
                <a:solidFill>
                  <a:srgbClr val="9AA1B8"/>
                </a:solidFill>
                <a:latin typeface="PingFang SC"/>
                <a:ea typeface="PingFang SC"/>
              </a:rPr>
              <a:t>门禁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4438650" y="16954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600575" y="1647825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1F3B"/>
                </a:solidFill>
                <a:latin typeface="PingFang SC"/>
                <a:ea typeface="PingFang SC"/>
              </a:rPr>
              <a:t>权限矩阵按角色分级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191375" y="1666875"/>
            <a:ext cx="409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2A8A5B"/>
                </a:solidFill>
                <a:latin typeface="Inter"/>
                <a:ea typeface="Inter"/>
              </a:rPr>
              <a:t>[</a:t>
            </a:r>
            <a:r>
              <a:rPr lang="zh-CN" sz="863" b="1">
                <a:solidFill>
                  <a:srgbClr val="2A8A5B"/>
                </a:solidFill>
                <a:latin typeface="Inter"/>
                <a:ea typeface="Inter"/>
              </a:rPr>
              <a:t>已实现</a:t>
            </a:r>
            <a:r>
              <a:rPr lang="en-US" sz="863" b="1">
                <a:solidFill>
                  <a:srgbClr val="2A8A5B"/>
                </a:solidFill>
                <a:latin typeface="Inter"/>
                <a:ea typeface="Inter"/>
              </a:rPr>
              <a:t>]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4438650" y="19621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600575" y="1914525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B1F3B"/>
                </a:solidFill>
                <a:latin typeface="PingFang SC"/>
                <a:ea typeface="PingFang SC"/>
              </a:rPr>
              <a:t>Higress </a:t>
            </a:r>
            <a:r>
              <a:rPr lang="zh-CN" sz="1050">
                <a:solidFill>
                  <a:srgbClr val="1B1F3B"/>
                </a:solidFill>
                <a:latin typeface="PingFang SC"/>
                <a:ea typeface="PingFang SC"/>
              </a:rPr>
              <a:t>凭证隔离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191375" y="1933575"/>
            <a:ext cx="409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2A8A5B"/>
                </a:solidFill>
                <a:latin typeface="Inter"/>
                <a:ea typeface="Inter"/>
              </a:rPr>
              <a:t>[</a:t>
            </a:r>
            <a:r>
              <a:rPr lang="zh-CN" sz="863" b="1">
                <a:solidFill>
                  <a:srgbClr val="2A8A5B"/>
                </a:solidFill>
                <a:latin typeface="Inter"/>
                <a:ea typeface="Inter"/>
              </a:rPr>
              <a:t>已实现</a:t>
            </a:r>
            <a:r>
              <a:rPr lang="en-US" sz="863" b="1">
                <a:solidFill>
                  <a:srgbClr val="2A8A5B"/>
                </a:solidFill>
                <a:latin typeface="Inter"/>
                <a:ea typeface="Inter"/>
              </a:rPr>
              <a:t>]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4438650" y="22288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600575" y="2181225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B1F3B"/>
                </a:solidFill>
                <a:latin typeface="PingFang SC"/>
                <a:ea typeface="PingFang SC"/>
              </a:rPr>
              <a:t>human gate </a:t>
            </a:r>
            <a:r>
              <a:rPr lang="zh-CN" sz="1050">
                <a:solidFill>
                  <a:srgbClr val="1B1F3B"/>
                </a:solidFill>
                <a:latin typeface="PingFang SC"/>
                <a:ea typeface="PingFang SC"/>
              </a:rPr>
              <a:t>高风险拦截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191375" y="2200275"/>
            <a:ext cx="409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2A8A5B"/>
                </a:solidFill>
                <a:latin typeface="Inter"/>
                <a:ea typeface="Inter"/>
              </a:rPr>
              <a:t>[</a:t>
            </a:r>
            <a:r>
              <a:rPr lang="zh-CN" sz="863" b="1">
                <a:solidFill>
                  <a:srgbClr val="2A8A5B"/>
                </a:solidFill>
                <a:latin typeface="Inter"/>
                <a:ea typeface="Inter"/>
              </a:rPr>
              <a:t>已实现</a:t>
            </a:r>
            <a:r>
              <a:rPr lang="en-US" sz="863" b="1">
                <a:solidFill>
                  <a:srgbClr val="2A8A5B"/>
                </a:solidFill>
                <a:latin typeface="Inter"/>
                <a:ea typeface="Inter"/>
              </a:rPr>
              <a:t>]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4438650" y="24955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600575" y="2447925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B1F3B"/>
                </a:solidFill>
                <a:latin typeface="PingFang SC"/>
                <a:ea typeface="PingFang SC"/>
              </a:rPr>
              <a:t>worktree </a:t>
            </a:r>
            <a:r>
              <a:rPr lang="zh-CN" sz="1050">
                <a:solidFill>
                  <a:srgbClr val="1B1F3B"/>
                </a:solidFill>
                <a:latin typeface="PingFang SC"/>
                <a:ea typeface="PingFang SC"/>
              </a:rPr>
              <a:t>回滚</a:t>
            </a:r>
            <a:r>
              <a:rPr lang="en-US" sz="1050">
                <a:solidFill>
                  <a:srgbClr val="1B1F3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1B1F3B"/>
                </a:solidFill>
                <a:latin typeface="PingFang SC"/>
                <a:ea typeface="PingFang SC"/>
              </a:rPr>
              <a:t>预算硬上限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191375" y="2466975"/>
            <a:ext cx="409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2A8A5B"/>
                </a:solidFill>
                <a:latin typeface="Inter"/>
                <a:ea typeface="Inter"/>
              </a:rPr>
              <a:t>[</a:t>
            </a:r>
            <a:r>
              <a:rPr lang="zh-CN" sz="863" b="1">
                <a:solidFill>
                  <a:srgbClr val="2A8A5B"/>
                </a:solidFill>
                <a:latin typeface="Inter"/>
                <a:ea typeface="Inter"/>
              </a:rPr>
              <a:t>已实现</a:t>
            </a:r>
            <a:r>
              <a:rPr lang="en-US" sz="863" b="1">
                <a:solidFill>
                  <a:srgbClr val="2A8A5B"/>
                </a:solidFill>
                <a:latin typeface="Inter"/>
                <a:ea typeface="Inter"/>
              </a:rPr>
              <a:t>]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7924800" y="895350"/>
            <a:ext cx="3505200" cy="1847850"/>
          </a:xfrm>
          <a:prstGeom prst="roundRect">
            <a:avLst>
              <a:gd name="adj" fmla="val 6186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7924800" y="895350"/>
            <a:ext cx="3505200" cy="619125"/>
          </a:xfrm>
          <a:custGeom>
            <a:pathLst>
              <a:path w="368" h="65">
                <a:moveTo>
                  <a:pt x="356" y="0"/>
                </a:moveTo>
                <a:cubicBezTo>
                  <a:pt x="363" y="0"/>
                  <a:pt x="368" y="5"/>
                  <a:pt x="368" y="12"/>
                </a:cubicBezTo>
                <a:lnTo>
                  <a:pt x="368" y="65"/>
                </a:lnTo>
                <a:lnTo>
                  <a:pt x="0" y="65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356" y="0"/>
                </a:lnTo>
                <a:close/>
              </a:path>
            </a:pathLst>
          </a:custGeom>
          <a:solidFill>
            <a:srgbClr val="1B1F3B"/>
          </a:solidFill>
          <a:ln/>
        </p:spPr>
        <p:txBody>
          <a:bodyPr/>
          <a:p/>
        </p:txBody>
      </p:sp>
      <p:pic>
        <p:nvPicPr>
          <p:cNvPr id="1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096250" y="1095375"/>
            <a:ext cx="228600" cy="228600"/>
          </a:xfrm>
          <a:prstGeom prst="rect">
            <a:avLst/>
          </a:prstGeom>
          <a:ln/>
        </p:spPr>
      </p:pic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439150" y="102870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运行验证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439150" y="1238250"/>
            <a:ext cx="1428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AA1B8"/>
                </a:solidFill>
                <a:latin typeface="PingFang SC"/>
                <a:ea typeface="PingFang SC"/>
              </a:rPr>
              <a:t>可复现实证（命中红线③）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8096250" y="16954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258175" y="1647825"/>
            <a:ext cx="2609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1F3B"/>
                </a:solidFill>
                <a:latin typeface="PingFang SC"/>
                <a:ea typeface="PingFang SC"/>
              </a:rPr>
              <a:t>自举回归集（真实</a:t>
            </a:r>
            <a:r>
              <a:rPr lang="en-US" sz="1050">
                <a:solidFill>
                  <a:srgbClr val="1B1F3B"/>
                </a:solidFill>
                <a:latin typeface="PingFang SC"/>
                <a:ea typeface="PingFang SC"/>
              </a:rPr>
              <a:t> bug commit</a:t>
            </a:r>
            <a:r>
              <a:rPr lang="zh-CN" sz="1050">
                <a:solidFill>
                  <a:srgbClr val="1B1F3B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0963275" y="1666875"/>
            <a:ext cx="295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6B35"/>
                </a:solidFill>
                <a:latin typeface="Inter"/>
                <a:ea typeface="Inter"/>
              </a:rPr>
              <a:t>[</a:t>
            </a:r>
            <a:r>
              <a:rPr lang="zh-CN" sz="863" b="1">
                <a:solidFill>
                  <a:srgbClr val="FF6B35"/>
                </a:solidFill>
                <a:latin typeface="Inter"/>
                <a:ea typeface="Inter"/>
              </a:rPr>
              <a:t>新建</a:t>
            </a:r>
            <a:r>
              <a:rPr lang="en-US" sz="863" b="1">
                <a:solidFill>
                  <a:srgbClr val="FF6B35"/>
                </a:solidFill>
                <a:latin typeface="Inter"/>
                <a:ea typeface="Inter"/>
              </a:rPr>
              <a:t>]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8096250" y="19621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258175" y="1914525"/>
            <a:ext cx="2609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1F3B"/>
                </a:solidFill>
                <a:latin typeface="PingFang SC"/>
                <a:ea typeface="PingFang SC"/>
              </a:rPr>
              <a:t>端到端</a:t>
            </a:r>
            <a:r>
              <a:rPr lang="en-US" sz="1050">
                <a:solidFill>
                  <a:srgbClr val="1B1F3B"/>
                </a:solidFill>
                <a:latin typeface="PingFang SC"/>
                <a:ea typeface="PingFang SC"/>
              </a:rPr>
              <a:t> Demo </a:t>
            </a:r>
            <a:r>
              <a:rPr lang="zh-CN" sz="1050">
                <a:solidFill>
                  <a:srgbClr val="1B1F3B"/>
                </a:solidFill>
                <a:latin typeface="PingFang SC"/>
                <a:ea typeface="PingFang SC"/>
              </a:rPr>
              <a:t>路径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0963275" y="1933575"/>
            <a:ext cx="295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6B35"/>
                </a:solidFill>
                <a:latin typeface="Inter"/>
                <a:ea typeface="Inter"/>
              </a:rPr>
              <a:t>[</a:t>
            </a:r>
            <a:r>
              <a:rPr lang="zh-CN" sz="863" b="1">
                <a:solidFill>
                  <a:srgbClr val="FF6B35"/>
                </a:solidFill>
                <a:latin typeface="Inter"/>
                <a:ea typeface="Inter"/>
              </a:rPr>
              <a:t>新建</a:t>
            </a:r>
            <a:r>
              <a:rPr lang="en-US" sz="863" b="1">
                <a:solidFill>
                  <a:srgbClr val="FF6B35"/>
                </a:solidFill>
                <a:latin typeface="Inter"/>
                <a:ea typeface="Inter"/>
              </a:rPr>
              <a:t>]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8096250" y="22288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258175" y="2181225"/>
            <a:ext cx="2609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B1F3B"/>
                </a:solidFill>
                <a:latin typeface="PingFang SC"/>
                <a:ea typeface="PingFang SC"/>
              </a:rPr>
              <a:t>Badcase </a:t>
            </a:r>
            <a:r>
              <a:rPr lang="zh-CN" sz="1050">
                <a:solidFill>
                  <a:srgbClr val="1B1F3B"/>
                </a:solidFill>
                <a:latin typeface="PingFang SC"/>
                <a:ea typeface="PingFang SC"/>
              </a:rPr>
              <a:t>抓</a:t>
            </a:r>
            <a:r>
              <a:rPr lang="en-US" sz="1050">
                <a:solidFill>
                  <a:srgbClr val="1B1F3B"/>
                </a:solidFill>
                <a:latin typeface="PingFang SC"/>
                <a:ea typeface="PingFang SC"/>
              </a:rPr>
              <a:t> False-Done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0963275" y="2200275"/>
            <a:ext cx="295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6B35"/>
                </a:solidFill>
                <a:latin typeface="Inter"/>
                <a:ea typeface="Inter"/>
              </a:rPr>
              <a:t>[</a:t>
            </a:r>
            <a:r>
              <a:rPr lang="zh-CN" sz="863" b="1">
                <a:solidFill>
                  <a:srgbClr val="FF6B35"/>
                </a:solidFill>
                <a:latin typeface="Inter"/>
                <a:ea typeface="Inter"/>
              </a:rPr>
              <a:t>新建</a:t>
            </a:r>
            <a:r>
              <a:rPr lang="en-US" sz="863" b="1">
                <a:solidFill>
                  <a:srgbClr val="FF6B35"/>
                </a:solidFill>
                <a:latin typeface="Inter"/>
                <a:ea typeface="Inter"/>
              </a:rPr>
              <a:t>]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8096250" y="24955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258175" y="2447925"/>
            <a:ext cx="2609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1F3B"/>
                </a:solidFill>
                <a:latin typeface="PingFang SC"/>
                <a:ea typeface="PingFang SC"/>
              </a:rPr>
              <a:t>证据物清单</a:t>
            </a:r>
            <a:r>
              <a:rPr lang="en-US" sz="1050">
                <a:solidFill>
                  <a:srgbClr val="1B1F3B"/>
                </a:solidFill>
                <a:latin typeface="PingFang SC"/>
                <a:ea typeface="PingFang SC"/>
              </a:rPr>
              <a:t> Receipt/Trace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0963275" y="2466975"/>
            <a:ext cx="295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6B35"/>
                </a:solidFill>
                <a:latin typeface="Inter"/>
                <a:ea typeface="Inter"/>
              </a:rPr>
              <a:t>[</a:t>
            </a:r>
            <a:r>
              <a:rPr lang="zh-CN" sz="863" b="1">
                <a:solidFill>
                  <a:srgbClr val="FF6B35"/>
                </a:solidFill>
                <a:latin typeface="Inter"/>
                <a:ea typeface="Inter"/>
              </a:rPr>
              <a:t>新建</a:t>
            </a:r>
            <a:r>
              <a:rPr lang="en-US" sz="863" b="1">
                <a:solidFill>
                  <a:srgbClr val="FF6B35"/>
                </a:solidFill>
                <a:latin typeface="Inter"/>
                <a:ea typeface="Inter"/>
              </a:rPr>
              <a:t>]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09600" y="2895600"/>
            <a:ext cx="10972800" cy="695325"/>
          </a:xfrm>
          <a:prstGeom prst="roundRect">
            <a:avLst>
              <a:gd name="adj" fmla="val 16438"/>
            </a:avLst>
          </a:prstGeom>
          <a:solidFill>
            <a:srgbClr val="FFEDE4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19150" y="3048000"/>
            <a:ext cx="2543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6B35"/>
                </a:solidFill>
                <a:latin typeface="Inter"/>
                <a:ea typeface="Inter"/>
              </a:rPr>
              <a:t>False-Done Rate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3533775" y="3105150"/>
            <a:ext cx="78009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A3320"/>
                </a:solidFill>
                <a:latin typeface="PingFang SC"/>
                <a:ea typeface="PingFang SC"/>
              </a:rPr>
              <a:t>招牌指标——</a:t>
            </a:r>
            <a:r>
              <a:rPr lang="zh-CN" sz="1200">
                <a:solidFill>
                  <a:srgbClr val="5A3320"/>
                </a:solidFill>
                <a:latin typeface="PingFang SC"/>
                <a:ea typeface="PingFang SC"/>
              </a:rPr>
              <a:t>误报完成率</a:t>
            </a:r>
            <a:r>
              <a:rPr lang="zh-CN" sz="1200">
                <a:solidFill>
                  <a:srgbClr val="5A3320"/>
                </a:solidFill>
                <a:latin typeface="PingFang SC"/>
                <a:ea typeface="PingFang SC"/>
              </a:rPr>
              <a:t>：</a:t>
            </a:r>
            <a:r>
              <a:rPr lang="en-US" sz="1200">
                <a:solidFill>
                  <a:srgbClr val="5A3320"/>
                </a:solidFill>
                <a:latin typeface="PingFang SC"/>
                <a:ea typeface="PingFang SC"/>
              </a:rPr>
              <a:t>Agent </a:t>
            </a:r>
            <a:r>
              <a:rPr lang="zh-CN" sz="1200">
                <a:solidFill>
                  <a:srgbClr val="5A3320"/>
                </a:solidFill>
                <a:latin typeface="PingFang SC"/>
                <a:ea typeface="PingFang SC"/>
              </a:rPr>
              <a:t>声称完成但</a:t>
            </a:r>
            <a:r>
              <a:rPr lang="en-US" sz="1200">
                <a:solidFill>
                  <a:srgbClr val="5A3320"/>
                </a:solidFill>
                <a:latin typeface="PingFang SC"/>
                <a:ea typeface="PingFang SC"/>
              </a:rPr>
              <a:t> Verifier </a:t>
            </a:r>
            <a:r>
              <a:rPr lang="zh-CN" sz="1200">
                <a:solidFill>
                  <a:srgbClr val="5A3320"/>
                </a:solidFill>
                <a:latin typeface="PingFang SC"/>
                <a:ea typeface="PingFang SC"/>
              </a:rPr>
              <a:t>判定未通过的比例，直接量化“自报告不可信”这一核心命题。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58" name="" descr="&lt;Slide style={{ width:'1280px', height:'720px', background:'#1B1F3B', padding:'0', position:'relative', display:'flex', flexDirection:'column', justifyContent:'center', paddingLeft:110, overflow:'hidden' }}&gt;&#10;  &lt;Box style={{ position:'absolute', right:0, top:0, width:320, height:320, background:'linear-gradient(135deg,#FF6B35 0%, transparent 100%)', opacity:0.14 }} /&gt;&#10;  &lt;Text style={{ position:'absolute', top:70, left:90, fontSize:240, fontWeight:'bold', color:'#2A2F5B', fontFamily:'Inter', lineHeight:1, zIndex:0 }}&gt;06&lt;/Text&gt;&#10;  &lt;Box style={{ position:'relative', zIndex:1 }}&gt;&#10;    &lt;Box style={{ width:80, height:6, background:'#FF6B35', borderRadius:3, marginBottom:22 }} /&gt;&#10;    &lt;Text style={{ fontSize:48, fontWeight:'bold', color:'#FFFFFF', fontFamily:'PingFang SC' }}&gt;开放 / 开源计划&lt;/Text&gt;&#10;    &lt;Text style={{ fontSize:19, color:'#9AA1B8', marginTop:14, fontFamily:'Inter', letterSpacing:3 }}&gt;OPEN SOURCE · 评分权重 5%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1F3B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9144000" y="0"/>
            <a:ext cx="3048000" cy="3048000"/>
          </a:xfrm>
          <a:prstGeom prst="rect">
            <a:avLst/>
          </a:prstGeom>
          <a:gradFill>
            <a:gsLst>
              <a:gs pos="0">
                <a:srgbClr val="FF6B35">
                  <a:alpha val="14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57250" y="666750"/>
            <a:ext cx="254317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2A2F5B"/>
                </a:solidFill>
                <a:latin typeface="Inter"/>
                <a:ea typeface="Inter"/>
              </a:rPr>
              <a:t>06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1047750" y="2847975"/>
            <a:ext cx="762000" cy="571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047750" y="3114675"/>
            <a:ext cx="111442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PingFang SC"/>
                <a:ea typeface="PingFang SC"/>
              </a:rPr>
              <a:t>开放</a:t>
            </a:r>
            <a:r>
              <a:rPr lang="en-US" sz="3600" b="1">
                <a:solidFill>
                  <a:srgbClr val="FFFFFF"/>
                </a:solidFill>
                <a:latin typeface="PingFang SC"/>
                <a:ea typeface="PingFang SC"/>
              </a:rPr>
              <a:t> / </a:t>
            </a:r>
            <a:r>
              <a:rPr lang="zh-CN" sz="3600" b="1">
                <a:solidFill>
                  <a:srgbClr val="FFFFFF"/>
                </a:solidFill>
                <a:latin typeface="PingFang SC"/>
                <a:ea typeface="PingFang SC"/>
              </a:rPr>
              <a:t>开源计划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047750" y="3800475"/>
            <a:ext cx="11144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225">
                <a:solidFill>
                  <a:srgbClr val="9AA1B8"/>
                </a:solidFill>
                <a:latin typeface="Inter"/>
                <a:ea typeface="Inter"/>
              </a:rPr>
              <a:t>OPEN SOURCE · </a:t>
            </a:r>
            <a:r>
              <a:rPr lang="zh-CN" sz="1425" spc="225">
                <a:solidFill>
                  <a:srgbClr val="9AA1B8"/>
                </a:solidFill>
                <a:latin typeface="Inter"/>
                <a:ea typeface="Inter"/>
              </a:rPr>
              <a:t>评分权重</a:t>
            </a:r>
            <a:r>
              <a:rPr lang="en-US" sz="1425" spc="225">
                <a:solidFill>
                  <a:srgbClr val="9AA1B8"/>
                </a:solidFill>
                <a:latin typeface="Inter"/>
                <a:ea typeface="Inter"/>
              </a:rPr>
              <a:t> 5%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65" name="" descr="&lt;Slide style={{ width:'1280px', height:'720px', background:'#FFFFFF', padding:'24px 64px 40px', display:'flex', flexDirection:'column' }}&gt;&#10;  &lt;Box style={{ display:'flex', alignItems:'center', gap:14, height:64 }}&gt;&#10;    &lt;Box style={{ width:8, height:34, background:'#FF6B35', borderRadius:4 }} /&gt;&#10;    &lt;Text style={{ fontSize:30, fontWeight:'bold', color:'#1B1F3B', fontFamily:'PingFang SC' }}&gt;开放 / 开源计划&lt;/Text&gt;&#10;  &lt;/Box&gt;&#10;  &lt;Box style={{ display:'flex', gap:18, marginTop:6 }}&gt;&#10;    &lt;Box style={{ width:700, display:'flex', flexDirection:'column', gap:16 }}&gt;&#10;      &lt;Box style={{ background:'#F5F7FB', borderRadius:12, padding:'18px 22px', borderLeft:'5px solid #FF6B35' }}&gt;&#10;        &lt;Text style={{ fontSize:19, fontWeight:'bold', color:'#1B1F3B', fontFamily:'PingFang SC' }}&gt;开源范围与协议&lt;/Text&gt;&#10;        &lt;Box style={{ display:'flex', flexDirection:'column', gap:10, marginTop:12 }}&gt;&#10;          &lt;Text style={{ fontSize:15.5, color:'#4A5168', lineHeight:1.6, fontFamily:'PingFang SC' }}&gt;· &lt;Text style={{ fontWeight:'bold', color:'#1B1F3B' }}&gt;LoopDesk 本体&lt;/Text&gt; Apache-2.0，已发布 v0.3.1，复赛前持续维护。&lt;/Text&gt;&#10;          &lt;Text style={{ fontSize:15.5, color:'#4A5168', lineHeight:1.6, fontFamily:'PingFang SC' }}&gt;· &lt;Text style={{ fontWeight:'bold', color:'#1B1F3B' }}&gt;本次新增全部开放&lt;/Text&gt;：Runtime 适配层 / Receipt Schema / 7 个 Skill / 自举回归集 → 全部 Apache-2.0。&lt;/Text&gt;&#10;          &lt;Text style={{ fontSize:15.5, color:'#4A5168', lineHeight:1.6, fontFamily:'PingFang SC' }}&gt;· &lt;Text style={{ fontWeight:'bold', color:'#1B1F3B' }}&gt;生态贡献&lt;/Text&gt;：Receipt Schema 与 Skill 设计为跨团队复用，任意 AgentTeams 团队可 import 直接采用。&lt;/Text&gt;&#10;        &lt;/Box&gt;&#10;      &lt;/Box&gt;&#10;      &lt;Box style={{ background:'#F5F7FB', borderRadius:12, padding:'18px 22px', borderLeft:'5px solid #2A2F5B' }}&gt;&#10;        &lt;Text style={{ fontSize:19, fontWeight:'bold', color:'#1B1F3B', fontFamily:'PingFang SC' }}&gt;第三方依赖披露（满足 9.4 强制项）&lt;/Text&gt;&#10;        &lt;Box style={{ display:'flex', flexDirection:'column', gap:10, marginTop:12 }}&gt;&#10;          &lt;Text style={{ fontSize:15.5, color:'#4A5168', lineHeight:1.6, fontFamily:'PingFang SC' }}&gt;· 开源依赖：见 uv.lock / pyproject.toml，复赛提交完整清单。&lt;/Text&gt;&#10;          &lt;Text style={{ fontSize:15.5, color:'#4A5168', lineHeight:1.6, fontFamily:'PingFang SC' }}&gt;· 商业 API：披露调用环节、费用假设、可替代性与锁定风险。&lt;/Text&gt;&#10;          &lt;Text style={{ fontSize:15.5, color:'#4A5168', lineHeight:1.6, fontFamily:'PingFang SC' }}&gt;· MCP 接口与外部权限：逐 server 列出权限范围与失败重试/幂等策略。&lt;/Text&gt;&#10;        &lt;/Box&gt;&#10;      &lt;/Box&gt;&#10;    &lt;/Box&gt;&#10;    &lt;Box style={{ width:404, background:'#1B1F3B', borderRadius:12, padding:'20px 22px', display:'flex', flexDirection:'column' }}&gt;&#10;      &lt;Text style={{ fontSize:19, fontWeight:'bold', color:'#FFFFFF', fontFamily:'PingFang SC' }}&gt;迁移与替换成本&lt;/Text&gt;&#10;      &lt;Text style={{ fontSize:13, color:'#9AA1B8', marginTop:4, fontFamily:'PingFang SC' }}&gt;满足“后续迁移成本”要求&lt;/Text&gt;&#10;      &lt;Box style={{ width:48, height:4, background:'#FF6B35', borderRadius:2, margin:'12px 0 14px' }} /&gt;&#10;      {[&#10;        { a:'SQLite + 本地向量', b:'PolarDB-for-PostgreSQL', c:'低' },&#10;        { a:'自研 Trace JSONL', b:'LoongSuite / AgentLoop', c:'低' },&#10;        { a:'MCP（已双向）', b:'任意等价工具', c:'零改造' },&#10;      ].map((r, i) =&gt; (&#10;        &lt;Box key={i} style={{ padding:'11px 0', borderTop: i===0 ? 'none' : '1px solid #2E3358' }}&gt;&#10;          &lt;Text style={{ fontSize:13.5, color:'#9AA1B8', fontFamily:'PingFang SC' }}&gt;{r.a} →&lt;/Text&gt;&#10;          &lt;Box style={{ display:'flex', alignItems:'center', justifyContent:'space-between', marginTop:3 }}&gt;&#10;            &lt;Text style={{ fontSize:15, color:'#FFFFFF', fontWeight:'bold', fontFamily:'PingFang SC' }}&gt;{r.b}&lt;/Text&gt;&#10;            &lt;Box style={{ background:'#FF6B35', borderRadius:5, padding:'2px 9px' }}&gt;&lt;Text style={{ fontSize:12.5, color:'#FFFFFF', fontWeight:'bold', fontFamily:'PingFang SC' }}&gt;{r.c}&lt;/Text&gt;&lt;/Box&gt;&#10;          &lt;/Box&gt;&#10;        &lt;/Box&gt;&#10;      ))}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609600" y="371475"/>
            <a:ext cx="76200" cy="3238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19150" y="361950"/>
            <a:ext cx="20478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B1F3B"/>
                </a:solidFill>
                <a:latin typeface="PingFang SC"/>
                <a:ea typeface="PingFang SC"/>
              </a:rPr>
              <a:t>开放</a:t>
            </a:r>
            <a:r>
              <a:rPr lang="en-US" sz="2250" b="1">
                <a:solidFill>
                  <a:srgbClr val="1B1F3B"/>
                </a:solidFill>
                <a:latin typeface="PingFang SC"/>
                <a:ea typeface="PingFang SC"/>
              </a:rPr>
              <a:t> / </a:t>
            </a:r>
            <a:r>
              <a:rPr lang="zh-CN" sz="2250" b="1">
                <a:solidFill>
                  <a:srgbClr val="1B1F3B"/>
                </a:solidFill>
                <a:latin typeface="PingFang SC"/>
                <a:ea typeface="PingFang SC"/>
              </a:rPr>
              <a:t>开源计划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57225" y="895350"/>
            <a:ext cx="6667500" cy="2295525"/>
          </a:xfrm>
          <a:prstGeom prst="roundRect">
            <a:avLst>
              <a:gd name="adj" fmla="val 4979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657225" y="895350"/>
            <a:ext cx="6667500" cy="2295525"/>
          </a:xfrm>
          <a:custGeom>
            <a:pathLst>
              <a:path w="700" h="241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234"/>
                </a:lnTo>
                <a:cubicBezTo>
                  <a:pt x="5" y="237"/>
                  <a:pt x="7" y="240"/>
                  <a:pt x="10" y="241"/>
                </a:cubicBezTo>
                <a:cubicBezTo>
                  <a:pt x="4" y="240"/>
                  <a:pt x="0" y="235"/>
                  <a:pt x="0" y="22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66775" y="1066800"/>
            <a:ext cx="6200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B1F3B"/>
                </a:solidFill>
                <a:latin typeface="PingFang SC"/>
                <a:ea typeface="PingFang SC"/>
              </a:rPr>
              <a:t>开源范围与协议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66775" y="1400175"/>
            <a:ext cx="6200775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· </a:t>
            </a: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LoopDesk 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本体</a:t>
            </a: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 Apache-2.0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，已发布</a:t>
            </a: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 v0.3.1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，复赛前持续维护。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66775" y="1781175"/>
            <a:ext cx="62007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· 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本次新增全部开放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：</a:t>
            </a: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Runtime 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适配层</a:t>
            </a: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 / Receipt Schema / 7 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个</a:t>
            </a: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 Skill / 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自举回归集</a:t>
            </a: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 → 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全部</a:t>
            </a: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 Apache-2.0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66775" y="2447925"/>
            <a:ext cx="62007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· 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生态贡献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：</a:t>
            </a: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Receipt Schema 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与</a:t>
            </a: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 Skill 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设计为跨团队复用，任意</a:t>
            </a: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 AgentTeams 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团队可</a:t>
            </a: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 import 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直接采用。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57225" y="3343275"/>
            <a:ext cx="6667500" cy="1724025"/>
          </a:xfrm>
          <a:prstGeom prst="roundRect">
            <a:avLst>
              <a:gd name="adj" fmla="val 6630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657225" y="3343275"/>
            <a:ext cx="6667500" cy="1724025"/>
          </a:xfrm>
          <a:custGeom>
            <a:pathLst>
              <a:path w="700" h="181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174"/>
                </a:lnTo>
                <a:cubicBezTo>
                  <a:pt x="5" y="177"/>
                  <a:pt x="7" y="180"/>
                  <a:pt x="10" y="181"/>
                </a:cubicBezTo>
                <a:cubicBezTo>
                  <a:pt x="4" y="180"/>
                  <a:pt x="0" y="175"/>
                  <a:pt x="0" y="16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A2F5B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66775" y="3514725"/>
            <a:ext cx="6200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B1F3B"/>
                </a:solidFill>
                <a:latin typeface="PingFang SC"/>
                <a:ea typeface="PingFang SC"/>
              </a:rPr>
              <a:t>第三方依赖披露（满足</a:t>
            </a:r>
            <a:r>
              <a:rPr lang="en-US" sz="1425" b="1">
                <a:solidFill>
                  <a:srgbClr val="1B1F3B"/>
                </a:solidFill>
                <a:latin typeface="PingFang SC"/>
                <a:ea typeface="PingFang SC"/>
              </a:rPr>
              <a:t> 9.4 </a:t>
            </a:r>
            <a:r>
              <a:rPr lang="zh-CN" sz="1425" b="1">
                <a:solidFill>
                  <a:srgbClr val="1B1F3B"/>
                </a:solidFill>
                <a:latin typeface="PingFang SC"/>
                <a:ea typeface="PingFang SC"/>
              </a:rPr>
              <a:t>强制项）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66775" y="3848100"/>
            <a:ext cx="6200775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· 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开源依赖：见</a:t>
            </a: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 uv.lock / pyproject.toml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，复赛提交完整清单。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66775" y="4229100"/>
            <a:ext cx="6200775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· 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商业</a:t>
            </a: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 API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：披露调用环节、费用假设、可替代性与锁定风险。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66775" y="4610100"/>
            <a:ext cx="6200775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· MCP 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接口与外部权限：逐</a:t>
            </a: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 server 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列出权限范围与失败重试</a:t>
            </a:r>
            <a:r>
              <a:rPr lang="en-US" sz="1163">
                <a:solidFill>
                  <a:srgbClr val="4A5168"/>
                </a:solidFill>
                <a:latin typeface="PingFang SC"/>
                <a:ea typeface="PingFang SC"/>
              </a:rPr>
              <a:t>/</a:t>
            </a:r>
            <a:r>
              <a:rPr lang="zh-CN" sz="1163">
                <a:solidFill>
                  <a:srgbClr val="4A5168"/>
                </a:solidFill>
                <a:latin typeface="PingFang SC"/>
                <a:ea typeface="PingFang SC"/>
              </a:rPr>
              <a:t>幂等策略。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7448550" y="895350"/>
            <a:ext cx="3848100" cy="4171950"/>
          </a:xfrm>
          <a:prstGeom prst="roundRect">
            <a:avLst>
              <a:gd name="adj" fmla="val 2970"/>
            </a:avLst>
          </a:prstGeom>
          <a:solidFill>
            <a:srgbClr val="1B1F3B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658100" y="1085850"/>
            <a:ext cx="3429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迁移与替换成本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658100" y="1343025"/>
            <a:ext cx="342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AA1B8"/>
                </a:solidFill>
                <a:latin typeface="PingFang SC"/>
                <a:ea typeface="PingFang SC"/>
              </a:rPr>
              <a:t>满足“后续迁移成本”要求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7658100" y="1609725"/>
            <a:ext cx="457200" cy="381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658100" y="188595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9AA1B8"/>
                </a:solidFill>
                <a:latin typeface="PingFang SC"/>
                <a:ea typeface="PingFang SC"/>
              </a:rPr>
              <a:t>SQLite + </a:t>
            </a:r>
            <a:r>
              <a:rPr lang="zh-CN" sz="1013">
                <a:solidFill>
                  <a:srgbClr val="9AA1B8"/>
                </a:solidFill>
                <a:latin typeface="PingFang SC"/>
                <a:ea typeface="PingFang SC"/>
              </a:rPr>
              <a:t>本地向量</a:t>
            </a:r>
            <a:r>
              <a:rPr lang="en-US" sz="1013">
                <a:solidFill>
                  <a:srgbClr val="9AA1B8"/>
                </a:solidFill>
                <a:latin typeface="PingFang SC"/>
                <a:ea typeface="PingFang SC"/>
              </a:rPr>
              <a:t> →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7658100" y="2085975"/>
            <a:ext cx="1733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PolarDB-for-PostgreSQL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10791825" y="2076450"/>
            <a:ext cx="295275" cy="180975"/>
          </a:xfrm>
          <a:prstGeom prst="roundRect">
            <a:avLst>
              <a:gd name="adj" fmla="val 26316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0877550" y="2095500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PingFang SC"/>
                <a:ea typeface="PingFang SC"/>
              </a:rPr>
              <a:t>低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7658100" y="2362200"/>
            <a:ext cx="3429000" cy="600075"/>
          </a:xfrm>
          <a:custGeom>
            <a:pathLst>
              <a:path w="360" h="63">
                <a:moveTo>
                  <a:pt x="0" y="0"/>
                </a:moveTo>
                <a:lnTo>
                  <a:pt x="360" y="0"/>
                </a:lnTo>
                <a:lnTo>
                  <a:pt x="360" y="1"/>
                </a:lnTo>
                <a:lnTo>
                  <a:pt x="0" y="1"/>
                </a:lnTo>
                <a:close/>
              </a:path>
            </a:pathLst>
          </a:custGeom>
          <a:solidFill>
            <a:srgbClr val="2E3358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7658100" y="24765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9AA1B8"/>
                </a:solidFill>
                <a:latin typeface="PingFang SC"/>
                <a:ea typeface="PingFang SC"/>
              </a:rPr>
              <a:t>自研</a:t>
            </a:r>
            <a:r>
              <a:rPr lang="en-US" sz="1013">
                <a:solidFill>
                  <a:srgbClr val="9AA1B8"/>
                </a:solidFill>
                <a:latin typeface="PingFang SC"/>
                <a:ea typeface="PingFang SC"/>
              </a:rPr>
              <a:t> Trace JSONL</a:t>
            </a:r>
            <a:r>
              <a:rPr lang="en-US" sz="1013">
                <a:solidFill>
                  <a:srgbClr val="9AA1B8"/>
                </a:solidFill>
                <a:latin typeface="PingFang SC"/>
                <a:ea typeface="PingFang SC"/>
              </a:rPr>
              <a:t> →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658100" y="2676525"/>
            <a:ext cx="1685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LoongSuite / AgentLoop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10791825" y="2667000"/>
            <a:ext cx="295275" cy="180975"/>
          </a:xfrm>
          <a:prstGeom prst="roundRect">
            <a:avLst>
              <a:gd name="adj" fmla="val 26316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0877550" y="2686050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PingFang SC"/>
                <a:ea typeface="PingFang SC"/>
              </a:rPr>
              <a:t>低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7658100" y="2952750"/>
            <a:ext cx="3429000" cy="600075"/>
          </a:xfrm>
          <a:custGeom>
            <a:pathLst>
              <a:path w="360" h="63">
                <a:moveTo>
                  <a:pt x="0" y="0"/>
                </a:moveTo>
                <a:lnTo>
                  <a:pt x="360" y="0"/>
                </a:lnTo>
                <a:lnTo>
                  <a:pt x="360" y="1"/>
                </a:lnTo>
                <a:lnTo>
                  <a:pt x="0" y="1"/>
                </a:lnTo>
                <a:close/>
              </a:path>
            </a:pathLst>
          </a:custGeom>
          <a:solidFill>
            <a:srgbClr val="2E3358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658100" y="306705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9AA1B8"/>
                </a:solidFill>
                <a:latin typeface="PingFang SC"/>
                <a:ea typeface="PingFang SC"/>
              </a:rPr>
              <a:t>MCP</a:t>
            </a:r>
            <a:r>
              <a:rPr lang="zh-CN" sz="1013">
                <a:solidFill>
                  <a:srgbClr val="9AA1B8"/>
                </a:solidFill>
                <a:latin typeface="PingFang SC"/>
                <a:ea typeface="PingFang SC"/>
              </a:rPr>
              <a:t>（已双向）</a:t>
            </a:r>
            <a:r>
              <a:rPr lang="en-US" sz="1013">
                <a:solidFill>
                  <a:srgbClr val="9AA1B8"/>
                </a:solidFill>
                <a:latin typeface="PingFang SC"/>
                <a:ea typeface="PingFang SC"/>
              </a:rPr>
              <a:t> →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658100" y="326707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PingFang SC"/>
                <a:ea typeface="PingFang SC"/>
              </a:rPr>
              <a:t>任意等价工具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10553700" y="3257550"/>
            <a:ext cx="533400" cy="180975"/>
          </a:xfrm>
          <a:prstGeom prst="roundRect">
            <a:avLst>
              <a:gd name="adj" fmla="val 26316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0639425" y="3276600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PingFang SC"/>
                <a:ea typeface="PingFang SC"/>
              </a:rPr>
              <a:t>零改造</a:t>
            </a:r>
            <a:endParaRPr/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99" name="" descr="&lt;Slide style={{ width:'1280px', height:'720px', background:'#1B1F3B', padding:'0', position:'relative', display:'flex', flexDirection:'column', justifyContent:'center', paddingLeft:110, overflow:'hidden' }}&gt;&#10;  &lt;Box style={{ position:'absolute', right:0, top:0, width:320, height:320, background:'linear-gradient(135deg,#FF6B35 0%, transparent 100%)', opacity:0.14 }} /&gt;&#10;  &lt;Text style={{ position:'absolute', top:70, left:90, fontSize:240, fontWeight:'bold', color:'#2A2F5B', fontFamily:'Inter', lineHeight:1, zIndex:0 }}&gt;07&lt;/Text&gt;&#10;  &lt;Box style={{ position:'relative', zIndex:1 }}&gt;&#10;    &lt;Box style={{ width:80, height:6, background:'#FF6B35', borderRadius:3, marginBottom:22 }} /&gt;&#10;    &lt;Text style={{ fontSize:48, fontWeight:'bold', color:'#FFFFFF', fontFamily:'PingFang SC' }}&gt;落地计划与进展&lt;/Text&gt;&#10;    &lt;Text style={{ fontSize:19, color:'#9AA1B8', marginTop:14, fontFamily:'Inter', letterSpacing:3 }}&gt;ROADMAP &amp;amp; PROGRESS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1F3B"/>
          </a:solidFill>
          <a:ln/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9144000" y="0"/>
            <a:ext cx="3048000" cy="3048000"/>
          </a:xfrm>
          <a:prstGeom prst="rect">
            <a:avLst/>
          </a:prstGeom>
          <a:gradFill>
            <a:gsLst>
              <a:gs pos="0">
                <a:srgbClr val="FF6B35">
                  <a:alpha val="14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57250" y="666750"/>
            <a:ext cx="254317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2A2F5B"/>
                </a:solidFill>
                <a:latin typeface="Inter"/>
                <a:ea typeface="Inter"/>
              </a:rPr>
              <a:t>07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1047750" y="2847975"/>
            <a:ext cx="762000" cy="571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047750" y="3114675"/>
            <a:ext cx="111442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PingFang SC"/>
                <a:ea typeface="PingFang SC"/>
              </a:rPr>
              <a:t>落地计划与进展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047750" y="3800475"/>
            <a:ext cx="11144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225">
                <a:solidFill>
                  <a:srgbClr val="9AA1B8"/>
                </a:solidFill>
                <a:latin typeface="Inter"/>
                <a:ea typeface="Inter"/>
              </a:rPr>
              <a:t>ROADMAP &amp; PROGRESS</a:t>
            </a:r>
            <a:endParaRPr/>
          </a:p>
        </p:txBody>
      </p:sp>
    </p:spTree>
  </p:cSld>
</p:sld>
</file>

<file path=ppt/slides/slide1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06" name="" descr="&lt;Slide style={{ width:'1280px', height:'720px', background:'#FFFFFF', padding:'24px 64px 40px', display:'flex', flexDirection:'column' }}&gt;&#10;  &lt;Box style={{ display:'flex', alignItems:'center', gap:14, height:64 }}&gt;&#10;    &lt;Box style={{ width:8, height:34, background:'#FF6B35', borderRadius:4 }} /&gt;&#10;    &lt;Text style={{ fontSize:30, fontWeight:'bold', color:'#1B1F3B', fontFamily:'PingFang SC' }}&gt;落地计划与进展&lt;/Text&gt;&#10;  &lt;/Box&gt;&#10;  &lt;Box style={{ background:'#E9EEFB', borderRadius:10, padding:'12px 20px', display:'flex', alignItems:'center', gap:14, marginTop:4 }}&gt;&#10;    &lt;FAIcon name='check-circle' style={{ fill:'#2A8A5B', width:24, height:24 }} /&gt;&#10;    &lt;Text style={{ fontSize:15, color:'#1B3A5B', lineHeight:1.5, fontFamily:'PingFang SC' }}&gt;&lt;Text style={{ fontWeight:'bold' }}&gt;当前进展 [已实现]&lt;/Text&gt;：LoopDesk v0.3.1 已发布可运行 · 625 个测试可离线跑 · 62 个 Skill · 14 个研发 Skill 已复用 · 内核（Loop Engine/MCP/权限/worktree/Trace）就绪。&lt;/Text&gt;&#10;  &lt;/Box&gt;&#10;  &lt;Box style={{ display:'flex', gap:18, marginTop:16 }}&gt;&#10;    &lt;Box style={{ width:620, display:'flex', flexDirection:'column', gap:12 }}&gt;&#10;      &lt;Text style={{ fontSize:16, fontWeight:'bold', color:'#1B1F3B', fontFamily:'PingFang SC' }}&gt;复赛交付里程碑&lt;/Text&gt;&#10;      {[&#10;        { m:'M1', d:'AgentTeams Worker Runtime 适配层（spec.runtime: loopdesk 镜像 + CRD 映射）' },&#10;        { m:'M2', d:'独立验证链路：Verifier + 三重工程强制 + Validation Receipt', core:true },&#10;        { m:'M3', d:'7 个新 Skill 包 + Curator 自动蒸馏触发' },&#10;        { m:'M4', d:'自举回归集 + Badcase 集 + Demo 视频 + 运行报告' },&#10;      ].map((x, i) =&gt; (&#10;        &lt;Box key={i} style={{ display:'flex', alignItems:'center', gap:14, background:'#F5F7FB', borderRadius:10, padding:'14px 18px', borderLeft: x.core ? '5px solid #FF6B35' : '5px solid #D7DEEC' }}&gt;&#10;          &lt;Box style={{ width:46, height:46, borderRadius:10, background: x.core ? '#FF6B35' : '#2A2F5B', justifyContent:'center', alignItems:'center' }}&gt;&#10;            &lt;Text style={{ fontSize:17, fontWeight:'bold', color:'#FFFFFF', fontFamily:'Inter' }}&gt;{x.m}&lt;/Text&gt;&#10;          &lt;/Box&gt;&#10;          &lt;Text style={{ fontSize:15, color:'#1B1F3B', lineHeight:1.5, fontFamily:'PingFang SC' }}&gt;{x.d}&lt;/Text&gt;&#10;        &lt;/Box&gt;&#10;      ))}&#10;    &lt;/Box&gt;&#10;    &lt;Box style={{ width:500, background:'#1B1F3B', borderRadius:12, padding:'18px 22px', display:'flex', flexDirection:'column' }}&gt;&#10;      &lt;Text style={{ fontSize:16, fontWeight:'bold', color:'#FFFFFF', fontFamily:'PingFang SC' }}&gt;风险控制&lt;/Text&gt;&#10;      &lt;Box style={{ width:48, height:4, background:'#FF6B35', borderRadius:2, margin:'10px 0 12px' }} /&gt;&#10;      {[&#10;        { r:'复现风险（封版后无法复现→取消）', m:'自有开源仓库 + 真实回归集，杜绝 Mock' },&#10;        { r:'越界风险（展示与承诺不符→取消）', m:'§0 事实边界声明全程约束状态标记' },&#10;        { r:'依赖风险', m:'阿里云 Skills 零适配；存储/可观测可替换' },&#10;        { r:'时间风险', m:'初赛 8.16 / 复赛 8.25–9.3 / 决赛 9.22，窗口内完成' },&#10;      ].map((x, i) =&gt; (&#10;        &lt;Box key={i} style={{ padding:'9px 0', borderTop: i===0 ? 'none' : '1px solid #2E3358' }}&gt;&#10;          &lt;Text style={{ fontSize:13.5, color:'#FFB499', fontWeight:'bold', fontFamily:'PingFang SC' }}&gt;{x.r}&lt;/Text&gt;&#10;          &lt;Text style={{ fontSize:14, color:'#D7DBEA', marginTop:3, fontFamily:'PingFang SC' }}&gt;{x.m}&lt;/Text&gt;&#10;        &lt;/Box&gt;&#10;      ))}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609600" y="371475"/>
            <a:ext cx="76200" cy="3238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19150" y="361950"/>
            <a:ext cx="2000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B1F3B"/>
                </a:solidFill>
                <a:latin typeface="PingFang SC"/>
                <a:ea typeface="PingFang SC"/>
              </a:rPr>
              <a:t>落地计划与进展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09600" y="876300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E9EEFB"/>
          </a:solidFill>
          <a:ln/>
        </p:spPr>
        <p:txBody>
          <a:bodyPr/>
          <a:p/>
        </p:txBody>
      </p:sp>
      <p:pic>
        <p:nvPicPr>
          <p:cNvPr id="2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133475"/>
            <a:ext cx="228600" cy="228600"/>
          </a:xfrm>
          <a:prstGeom prst="rect">
            <a:avLst/>
          </a:prstGeom>
          <a:ln/>
        </p:spPr>
      </p:pic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152525" y="990600"/>
            <a:ext cx="102393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B3A5B"/>
                </a:solidFill>
                <a:latin typeface="PingFang SC"/>
                <a:ea typeface="PingFang SC"/>
              </a:rPr>
              <a:t>当前进展</a:t>
            </a:r>
            <a:r>
              <a:rPr lang="en-US" sz="1125">
                <a:solidFill>
                  <a:srgbClr val="1B3A5B"/>
                </a:solidFill>
                <a:latin typeface="PingFang SC"/>
                <a:ea typeface="PingFang SC"/>
              </a:rPr>
              <a:t> [</a:t>
            </a:r>
            <a:r>
              <a:rPr lang="zh-CN" sz="1125">
                <a:solidFill>
                  <a:srgbClr val="1B3A5B"/>
                </a:solidFill>
                <a:latin typeface="PingFang SC"/>
                <a:ea typeface="PingFang SC"/>
              </a:rPr>
              <a:t>已实现</a:t>
            </a:r>
            <a:r>
              <a:rPr lang="en-US" sz="1125">
                <a:solidFill>
                  <a:srgbClr val="1B3A5B"/>
                </a:solidFill>
                <a:latin typeface="PingFang SC"/>
                <a:ea typeface="PingFang SC"/>
              </a:rPr>
              <a:t>]</a:t>
            </a:r>
            <a:r>
              <a:rPr lang="zh-CN" sz="1125">
                <a:solidFill>
                  <a:srgbClr val="1B3A5B"/>
                </a:solidFill>
                <a:latin typeface="PingFang SC"/>
                <a:ea typeface="PingFang SC"/>
              </a:rPr>
              <a:t>：</a:t>
            </a:r>
            <a:r>
              <a:rPr lang="en-US" sz="1125">
                <a:solidFill>
                  <a:srgbClr val="1B3A5B"/>
                </a:solidFill>
                <a:latin typeface="PingFang SC"/>
                <a:ea typeface="PingFang SC"/>
              </a:rPr>
              <a:t>LoopDesk v0.3.1 </a:t>
            </a:r>
            <a:r>
              <a:rPr lang="zh-CN" sz="1125">
                <a:solidFill>
                  <a:srgbClr val="1B3A5B"/>
                </a:solidFill>
                <a:latin typeface="PingFang SC"/>
                <a:ea typeface="PingFang SC"/>
              </a:rPr>
              <a:t>已发布可运行</a:t>
            </a:r>
            <a:r>
              <a:rPr lang="en-US" sz="1125">
                <a:solidFill>
                  <a:srgbClr val="1B3A5B"/>
                </a:solidFill>
                <a:latin typeface="PingFang SC"/>
                <a:ea typeface="PingFang SC"/>
              </a:rPr>
              <a:t> · 625 </a:t>
            </a:r>
            <a:r>
              <a:rPr lang="zh-CN" sz="1125">
                <a:solidFill>
                  <a:srgbClr val="1B3A5B"/>
                </a:solidFill>
                <a:latin typeface="PingFang SC"/>
                <a:ea typeface="PingFang SC"/>
              </a:rPr>
              <a:t>个测试可离线跑</a:t>
            </a:r>
            <a:r>
              <a:rPr lang="en-US" sz="1125">
                <a:solidFill>
                  <a:srgbClr val="1B3A5B"/>
                </a:solidFill>
                <a:latin typeface="PingFang SC"/>
                <a:ea typeface="PingFang SC"/>
              </a:rPr>
              <a:t> · 62 </a:t>
            </a:r>
            <a:r>
              <a:rPr lang="zh-CN" sz="1125">
                <a:solidFill>
                  <a:srgbClr val="1B3A5B"/>
                </a:solidFill>
                <a:latin typeface="PingFang SC"/>
                <a:ea typeface="PingFang SC"/>
              </a:rPr>
              <a:t>个</a:t>
            </a:r>
            <a:r>
              <a:rPr lang="en-US" sz="1125">
                <a:solidFill>
                  <a:srgbClr val="1B3A5B"/>
                </a:solidFill>
                <a:latin typeface="PingFang SC"/>
                <a:ea typeface="PingFang SC"/>
              </a:rPr>
              <a:t> Skill · 14 </a:t>
            </a:r>
            <a:r>
              <a:rPr lang="zh-CN" sz="1125">
                <a:solidFill>
                  <a:srgbClr val="1B3A5B"/>
                </a:solidFill>
                <a:latin typeface="PingFang SC"/>
                <a:ea typeface="PingFang SC"/>
              </a:rPr>
              <a:t>个研发</a:t>
            </a:r>
            <a:r>
              <a:rPr lang="en-US" sz="1125">
                <a:solidFill>
                  <a:srgbClr val="1B3A5B"/>
                </a:solidFill>
                <a:latin typeface="PingFang SC"/>
                <a:ea typeface="PingFang SC"/>
              </a:rPr>
              <a:t> Skill </a:t>
            </a:r>
            <a:r>
              <a:rPr lang="zh-CN" sz="1125">
                <a:solidFill>
                  <a:srgbClr val="1B3A5B"/>
                </a:solidFill>
                <a:latin typeface="PingFang SC"/>
                <a:ea typeface="PingFang SC"/>
              </a:rPr>
              <a:t>已复用</a:t>
            </a:r>
            <a:r>
              <a:rPr lang="en-US" sz="1125">
                <a:solidFill>
                  <a:srgbClr val="1B3A5B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1B3A5B"/>
                </a:solidFill>
                <a:latin typeface="PingFang SC"/>
                <a:ea typeface="PingFang SC"/>
              </a:rPr>
              <a:t>内核（</a:t>
            </a:r>
            <a:r>
              <a:rPr lang="en-US" sz="1125">
                <a:solidFill>
                  <a:srgbClr val="1B3A5B"/>
                </a:solidFill>
                <a:latin typeface="PingFang SC"/>
                <a:ea typeface="PingFang SC"/>
              </a:rPr>
              <a:t>Loop Engine/MCP/</a:t>
            </a:r>
            <a:r>
              <a:rPr lang="zh-CN" sz="1125">
                <a:solidFill>
                  <a:srgbClr val="1B3A5B"/>
                </a:solidFill>
                <a:latin typeface="PingFang SC"/>
                <a:ea typeface="PingFang SC"/>
              </a:rPr>
              <a:t>权限</a:t>
            </a:r>
            <a:r>
              <a:rPr lang="en-US" sz="1125">
                <a:solidFill>
                  <a:srgbClr val="1B3A5B"/>
                </a:solidFill>
                <a:latin typeface="PingFang SC"/>
                <a:ea typeface="PingFang SC"/>
              </a:rPr>
              <a:t>/worktree/Trace</a:t>
            </a:r>
            <a:r>
              <a:rPr lang="zh-CN" sz="1125">
                <a:solidFill>
                  <a:srgbClr val="1B3A5B"/>
                </a:solidFill>
                <a:latin typeface="PingFang SC"/>
                <a:ea typeface="PingFang SC"/>
              </a:rPr>
              <a:t>）就绪。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09600" y="1771650"/>
            <a:ext cx="590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B1F3B"/>
                </a:solidFill>
                <a:latin typeface="PingFang SC"/>
                <a:ea typeface="PingFang SC"/>
              </a:rPr>
              <a:t>复赛交付里程碑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657225" y="2076450"/>
            <a:ext cx="5905500" cy="704850"/>
          </a:xfrm>
          <a:prstGeom prst="roundRect">
            <a:avLst>
              <a:gd name="adj" fmla="val 13514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657225" y="2076450"/>
            <a:ext cx="5905500" cy="704850"/>
          </a:xfrm>
          <a:custGeom>
            <a:pathLst>
              <a:path w="620" h="7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69"/>
                </a:lnTo>
                <a:cubicBezTo>
                  <a:pt x="5" y="71"/>
                  <a:pt x="7" y="73"/>
                  <a:pt x="9" y="74"/>
                </a:cubicBezTo>
                <a:cubicBezTo>
                  <a:pt x="4" y="73"/>
                  <a:pt x="0" y="69"/>
                  <a:pt x="0" y="6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7DEEC"/>
          </a:soli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828675" y="2209800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2A2F5B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933450" y="2333625"/>
            <a:ext cx="22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Inter"/>
                <a:ea typeface="Inter"/>
              </a:rPr>
              <a:t>M1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362075" y="2305050"/>
            <a:ext cx="49815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1B1F3B"/>
                </a:solidFill>
                <a:latin typeface="PingFang SC"/>
                <a:ea typeface="PingFang SC"/>
              </a:rPr>
              <a:t>AgentTeams Worker Runtime </a:t>
            </a:r>
            <a:r>
              <a:rPr lang="zh-CN" sz="1125">
                <a:solidFill>
                  <a:srgbClr val="1B1F3B"/>
                </a:solidFill>
                <a:latin typeface="PingFang SC"/>
                <a:ea typeface="PingFang SC"/>
              </a:rPr>
              <a:t>适配层（</a:t>
            </a:r>
            <a:r>
              <a:rPr lang="en-US" sz="1125">
                <a:solidFill>
                  <a:srgbClr val="1B1F3B"/>
                </a:solidFill>
                <a:latin typeface="PingFang SC"/>
                <a:ea typeface="PingFang SC"/>
              </a:rPr>
              <a:t>spec.runtime: loopdesk </a:t>
            </a:r>
            <a:r>
              <a:rPr lang="zh-CN" sz="1125">
                <a:solidFill>
                  <a:srgbClr val="1B1F3B"/>
                </a:solidFill>
                <a:latin typeface="PingFang SC"/>
                <a:ea typeface="PingFang SC"/>
              </a:rPr>
              <a:t>镜像</a:t>
            </a:r>
            <a:r>
              <a:rPr lang="en-US" sz="1125">
                <a:solidFill>
                  <a:srgbClr val="1B1F3B"/>
                </a:solidFill>
                <a:latin typeface="PingFang SC"/>
                <a:ea typeface="PingFang SC"/>
              </a:rPr>
              <a:t> + CRD </a:t>
            </a:r>
            <a:r>
              <a:rPr lang="zh-CN" sz="1125">
                <a:solidFill>
                  <a:srgbClr val="1B1F3B"/>
                </a:solidFill>
                <a:latin typeface="PingFang SC"/>
                <a:ea typeface="PingFang SC"/>
              </a:rPr>
              <a:t>映射）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57225" y="2895600"/>
            <a:ext cx="5905500" cy="704850"/>
          </a:xfrm>
          <a:prstGeom prst="roundRect">
            <a:avLst>
              <a:gd name="adj" fmla="val 13514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657225" y="2895600"/>
            <a:ext cx="5905500" cy="704850"/>
          </a:xfrm>
          <a:custGeom>
            <a:pathLst>
              <a:path w="620" h="7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69"/>
                </a:lnTo>
                <a:cubicBezTo>
                  <a:pt x="5" y="71"/>
                  <a:pt x="7" y="73"/>
                  <a:pt x="9" y="74"/>
                </a:cubicBezTo>
                <a:cubicBezTo>
                  <a:pt x="4" y="73"/>
                  <a:pt x="0" y="69"/>
                  <a:pt x="0" y="6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221" name=""/>
          <p:cNvSpPr/>
          <p:nvPr/>
        </p:nvSpPr>
        <p:spPr>
          <a:xfrm rot="0" flipH="0" flipV="0">
            <a:off x="828675" y="3028950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933450" y="3152775"/>
            <a:ext cx="22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Inter"/>
                <a:ea typeface="Inter"/>
              </a:rPr>
              <a:t>M2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400175" y="3124200"/>
            <a:ext cx="39147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B1F3B"/>
                </a:solidFill>
                <a:latin typeface="PingFang SC"/>
                <a:ea typeface="PingFang SC"/>
              </a:rPr>
              <a:t>独立验证链路：</a:t>
            </a:r>
            <a:r>
              <a:rPr lang="en-US" sz="1125">
                <a:solidFill>
                  <a:srgbClr val="1B1F3B"/>
                </a:solidFill>
                <a:latin typeface="PingFang SC"/>
                <a:ea typeface="PingFang SC"/>
              </a:rPr>
              <a:t>Verifier + </a:t>
            </a:r>
            <a:r>
              <a:rPr lang="zh-CN" sz="1125">
                <a:solidFill>
                  <a:srgbClr val="1B1F3B"/>
                </a:solidFill>
                <a:latin typeface="PingFang SC"/>
                <a:ea typeface="PingFang SC"/>
              </a:rPr>
              <a:t>三重工程强制</a:t>
            </a:r>
            <a:r>
              <a:rPr lang="en-US" sz="1125">
                <a:solidFill>
                  <a:srgbClr val="1B1F3B"/>
                </a:solidFill>
                <a:latin typeface="PingFang SC"/>
                <a:ea typeface="PingFang SC"/>
              </a:rPr>
              <a:t> + Validation Receipt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57225" y="3714750"/>
            <a:ext cx="5905500" cy="704850"/>
          </a:xfrm>
          <a:prstGeom prst="roundRect">
            <a:avLst>
              <a:gd name="adj" fmla="val 13514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657225" y="3714750"/>
            <a:ext cx="5905500" cy="704850"/>
          </a:xfrm>
          <a:custGeom>
            <a:pathLst>
              <a:path w="620" h="7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69"/>
                </a:lnTo>
                <a:cubicBezTo>
                  <a:pt x="5" y="71"/>
                  <a:pt x="7" y="73"/>
                  <a:pt x="9" y="74"/>
                </a:cubicBezTo>
                <a:cubicBezTo>
                  <a:pt x="4" y="73"/>
                  <a:pt x="0" y="69"/>
                  <a:pt x="0" y="6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7DEEC"/>
          </a:solidFill>
          <a:ln/>
        </p:spPr>
        <p:txBody>
          <a:bodyPr/>
          <a:p/>
        </p:txBody>
      </p:sp>
      <p:sp>
        <p:nvSpPr>
          <p:cNvPr id="226" name=""/>
          <p:cNvSpPr/>
          <p:nvPr/>
        </p:nvSpPr>
        <p:spPr>
          <a:xfrm rot="0" flipH="0" flipV="0">
            <a:off x="828675" y="3848100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2A2F5B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933450" y="3971925"/>
            <a:ext cx="22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Inter"/>
                <a:ea typeface="Inter"/>
              </a:rPr>
              <a:t>M3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400175" y="3943350"/>
            <a:ext cx="2514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1B1F3B"/>
                </a:solidFill>
                <a:latin typeface="PingFang SC"/>
                <a:ea typeface="PingFang SC"/>
              </a:rPr>
              <a:t>7 </a:t>
            </a:r>
            <a:r>
              <a:rPr lang="zh-CN" sz="1125">
                <a:solidFill>
                  <a:srgbClr val="1B1F3B"/>
                </a:solidFill>
                <a:latin typeface="PingFang SC"/>
                <a:ea typeface="PingFang SC"/>
              </a:rPr>
              <a:t>个新</a:t>
            </a:r>
            <a:r>
              <a:rPr lang="en-US" sz="1125">
                <a:solidFill>
                  <a:srgbClr val="1B1F3B"/>
                </a:solidFill>
                <a:latin typeface="PingFang SC"/>
                <a:ea typeface="PingFang SC"/>
              </a:rPr>
              <a:t> Skill </a:t>
            </a:r>
            <a:r>
              <a:rPr lang="zh-CN" sz="1125">
                <a:solidFill>
                  <a:srgbClr val="1B1F3B"/>
                </a:solidFill>
                <a:latin typeface="PingFang SC"/>
                <a:ea typeface="PingFang SC"/>
              </a:rPr>
              <a:t>包</a:t>
            </a:r>
            <a:r>
              <a:rPr lang="en-US" sz="1125">
                <a:solidFill>
                  <a:srgbClr val="1B1F3B"/>
                </a:solidFill>
                <a:latin typeface="PingFang SC"/>
                <a:ea typeface="PingFang SC"/>
              </a:rPr>
              <a:t> + Curator </a:t>
            </a:r>
            <a:r>
              <a:rPr lang="zh-CN" sz="1125">
                <a:solidFill>
                  <a:srgbClr val="1B1F3B"/>
                </a:solidFill>
                <a:latin typeface="PingFang SC"/>
                <a:ea typeface="PingFang SC"/>
              </a:rPr>
              <a:t>自动蒸馏触发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57225" y="4533900"/>
            <a:ext cx="5905500" cy="704850"/>
          </a:xfrm>
          <a:prstGeom prst="roundRect">
            <a:avLst>
              <a:gd name="adj" fmla="val 13514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657225" y="4533900"/>
            <a:ext cx="5905500" cy="704850"/>
          </a:xfrm>
          <a:custGeom>
            <a:pathLst>
              <a:path w="620" h="7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69"/>
                </a:lnTo>
                <a:cubicBezTo>
                  <a:pt x="5" y="71"/>
                  <a:pt x="7" y="73"/>
                  <a:pt x="9" y="74"/>
                </a:cubicBezTo>
                <a:cubicBezTo>
                  <a:pt x="4" y="73"/>
                  <a:pt x="0" y="69"/>
                  <a:pt x="0" y="6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7DEEC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828675" y="4667250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2A2F5B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933450" y="4791075"/>
            <a:ext cx="22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Inter"/>
                <a:ea typeface="Inter"/>
              </a:rPr>
              <a:t>M4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400175" y="47625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B1F3B"/>
                </a:solidFill>
                <a:latin typeface="PingFang SC"/>
                <a:ea typeface="PingFang SC"/>
              </a:rPr>
              <a:t>自举回归集</a:t>
            </a:r>
            <a:r>
              <a:rPr lang="en-US" sz="1125">
                <a:solidFill>
                  <a:srgbClr val="1B1F3B"/>
                </a:solidFill>
                <a:latin typeface="PingFang SC"/>
                <a:ea typeface="PingFang SC"/>
              </a:rPr>
              <a:t> + Badcase </a:t>
            </a:r>
            <a:r>
              <a:rPr lang="zh-CN" sz="1125">
                <a:solidFill>
                  <a:srgbClr val="1B1F3B"/>
                </a:solidFill>
                <a:latin typeface="PingFang SC"/>
                <a:ea typeface="PingFang SC"/>
              </a:rPr>
              <a:t>集</a:t>
            </a:r>
            <a:r>
              <a:rPr lang="en-US" sz="1125">
                <a:solidFill>
                  <a:srgbClr val="1B1F3B"/>
                </a:solidFill>
                <a:latin typeface="PingFang SC"/>
                <a:ea typeface="PingFang SC"/>
              </a:rPr>
              <a:t> + Demo </a:t>
            </a:r>
            <a:r>
              <a:rPr lang="zh-CN" sz="1125">
                <a:solidFill>
                  <a:srgbClr val="1B1F3B"/>
                </a:solidFill>
                <a:latin typeface="PingFang SC"/>
                <a:ea typeface="PingFang SC"/>
              </a:rPr>
              <a:t>视频</a:t>
            </a:r>
            <a:r>
              <a:rPr lang="en-US" sz="1125">
                <a:solidFill>
                  <a:srgbClr val="1B1F3B"/>
                </a:solidFill>
                <a:latin typeface="PingFang SC"/>
                <a:ea typeface="PingFang SC"/>
              </a:rPr>
              <a:t> + </a:t>
            </a:r>
            <a:r>
              <a:rPr lang="zh-CN" sz="1125">
                <a:solidFill>
                  <a:srgbClr val="1B1F3B"/>
                </a:solidFill>
                <a:latin typeface="PingFang SC"/>
                <a:ea typeface="PingFang SC"/>
              </a:rPr>
              <a:t>运行报告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686550" y="1771650"/>
            <a:ext cx="4762500" cy="3467100"/>
          </a:xfrm>
          <a:prstGeom prst="roundRect">
            <a:avLst>
              <a:gd name="adj" fmla="val 3297"/>
            </a:avLst>
          </a:prstGeom>
          <a:solidFill>
            <a:srgbClr val="1B1F3B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896100" y="1943100"/>
            <a:ext cx="434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风险控制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896100" y="222885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896100" y="2466975"/>
            <a:ext cx="434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B499"/>
                </a:solidFill>
                <a:latin typeface="PingFang SC"/>
                <a:ea typeface="PingFang SC"/>
              </a:rPr>
              <a:t>复现风险（封版后无法复现→取消）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896100" y="2657475"/>
            <a:ext cx="434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7DBEA"/>
                </a:solidFill>
                <a:latin typeface="PingFang SC"/>
                <a:ea typeface="PingFang SC"/>
              </a:rPr>
              <a:t>自有开源仓库</a:t>
            </a:r>
            <a:r>
              <a:rPr lang="en-US" sz="1050">
                <a:solidFill>
                  <a:srgbClr val="D7DBEA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D7DBEA"/>
                </a:solidFill>
                <a:latin typeface="PingFang SC"/>
                <a:ea typeface="PingFang SC"/>
              </a:rPr>
              <a:t>真实回归集，杜绝</a:t>
            </a:r>
            <a:r>
              <a:rPr lang="en-US" sz="1050">
                <a:solidFill>
                  <a:srgbClr val="D7DBEA"/>
                </a:solidFill>
                <a:latin typeface="PingFang SC"/>
                <a:ea typeface="PingFang SC"/>
              </a:rPr>
              <a:t> Mock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896100" y="2905125"/>
            <a:ext cx="4343400" cy="542925"/>
          </a:xfrm>
          <a:custGeom>
            <a:pathLst>
              <a:path w="456" h="57">
                <a:moveTo>
                  <a:pt x="0" y="0"/>
                </a:moveTo>
                <a:lnTo>
                  <a:pt x="456" y="0"/>
                </a:lnTo>
                <a:lnTo>
                  <a:pt x="456" y="1"/>
                </a:lnTo>
                <a:lnTo>
                  <a:pt x="0" y="1"/>
                </a:lnTo>
                <a:close/>
              </a:path>
            </a:pathLst>
          </a:custGeom>
          <a:solidFill>
            <a:srgbClr val="2E3358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896100" y="3000375"/>
            <a:ext cx="434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B499"/>
                </a:solidFill>
                <a:latin typeface="PingFang SC"/>
                <a:ea typeface="PingFang SC"/>
              </a:rPr>
              <a:t>越界风险（展示与承诺不符→取消）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896100" y="3190875"/>
            <a:ext cx="434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7DBEA"/>
                </a:solidFill>
                <a:latin typeface="PingFang SC"/>
                <a:ea typeface="PingFang SC"/>
              </a:rPr>
              <a:t>§0 </a:t>
            </a:r>
            <a:r>
              <a:rPr lang="zh-CN" sz="1050">
                <a:solidFill>
                  <a:srgbClr val="D7DBEA"/>
                </a:solidFill>
                <a:latin typeface="PingFang SC"/>
                <a:ea typeface="PingFang SC"/>
              </a:rPr>
              <a:t>事实边界声明全程约束状态标记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6896100" y="3438525"/>
            <a:ext cx="4343400" cy="542925"/>
          </a:xfrm>
          <a:custGeom>
            <a:pathLst>
              <a:path w="456" h="57">
                <a:moveTo>
                  <a:pt x="0" y="0"/>
                </a:moveTo>
                <a:lnTo>
                  <a:pt x="456" y="0"/>
                </a:lnTo>
                <a:lnTo>
                  <a:pt x="456" y="1"/>
                </a:lnTo>
                <a:lnTo>
                  <a:pt x="0" y="1"/>
                </a:lnTo>
                <a:close/>
              </a:path>
            </a:pathLst>
          </a:custGeom>
          <a:solidFill>
            <a:srgbClr val="2E3358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896100" y="3533775"/>
            <a:ext cx="434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B499"/>
                </a:solidFill>
                <a:latin typeface="PingFang SC"/>
                <a:ea typeface="PingFang SC"/>
              </a:rPr>
              <a:t>依赖风险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896100" y="3724275"/>
            <a:ext cx="434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7DBEA"/>
                </a:solidFill>
                <a:latin typeface="PingFang SC"/>
                <a:ea typeface="PingFang SC"/>
              </a:rPr>
              <a:t>阿里云</a:t>
            </a:r>
            <a:r>
              <a:rPr lang="en-US" sz="1050">
                <a:solidFill>
                  <a:srgbClr val="D7DBEA"/>
                </a:solidFill>
                <a:latin typeface="PingFang SC"/>
                <a:ea typeface="PingFang SC"/>
              </a:rPr>
              <a:t> Skills </a:t>
            </a:r>
            <a:r>
              <a:rPr lang="zh-CN" sz="1050">
                <a:solidFill>
                  <a:srgbClr val="D7DBEA"/>
                </a:solidFill>
                <a:latin typeface="PingFang SC"/>
                <a:ea typeface="PingFang SC"/>
              </a:rPr>
              <a:t>零适配；存储</a:t>
            </a:r>
            <a:r>
              <a:rPr lang="en-US" sz="1050">
                <a:solidFill>
                  <a:srgbClr val="D7DBEA"/>
                </a:solidFill>
                <a:latin typeface="PingFang SC"/>
                <a:ea typeface="PingFang SC"/>
              </a:rPr>
              <a:t>/</a:t>
            </a:r>
            <a:r>
              <a:rPr lang="zh-CN" sz="1050">
                <a:solidFill>
                  <a:srgbClr val="D7DBEA"/>
                </a:solidFill>
                <a:latin typeface="PingFang SC"/>
                <a:ea typeface="PingFang SC"/>
              </a:rPr>
              <a:t>可观测可替换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6896100" y="3971925"/>
            <a:ext cx="4343400" cy="542925"/>
          </a:xfrm>
          <a:custGeom>
            <a:pathLst>
              <a:path w="456" h="57">
                <a:moveTo>
                  <a:pt x="0" y="0"/>
                </a:moveTo>
                <a:lnTo>
                  <a:pt x="456" y="0"/>
                </a:lnTo>
                <a:lnTo>
                  <a:pt x="456" y="1"/>
                </a:lnTo>
                <a:lnTo>
                  <a:pt x="0" y="1"/>
                </a:lnTo>
                <a:close/>
              </a:path>
            </a:pathLst>
          </a:custGeom>
          <a:solidFill>
            <a:srgbClr val="2E3358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896100" y="4067175"/>
            <a:ext cx="434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B499"/>
                </a:solidFill>
                <a:latin typeface="PingFang SC"/>
                <a:ea typeface="PingFang SC"/>
              </a:rPr>
              <a:t>时间风险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896100" y="4257675"/>
            <a:ext cx="434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7DBEA"/>
                </a:solidFill>
                <a:latin typeface="PingFang SC"/>
                <a:ea typeface="PingFang SC"/>
              </a:rPr>
              <a:t>初赛</a:t>
            </a:r>
            <a:r>
              <a:rPr lang="en-US" sz="1050">
                <a:solidFill>
                  <a:srgbClr val="D7DBEA"/>
                </a:solidFill>
                <a:latin typeface="PingFang SC"/>
                <a:ea typeface="PingFang SC"/>
              </a:rPr>
              <a:t> 8.16 / </a:t>
            </a:r>
            <a:r>
              <a:rPr lang="zh-CN" sz="1050">
                <a:solidFill>
                  <a:srgbClr val="D7DBEA"/>
                </a:solidFill>
                <a:latin typeface="PingFang SC"/>
                <a:ea typeface="PingFang SC"/>
              </a:rPr>
              <a:t>复赛</a:t>
            </a:r>
            <a:r>
              <a:rPr lang="en-US" sz="1050">
                <a:solidFill>
                  <a:srgbClr val="D7DBEA"/>
                </a:solidFill>
                <a:latin typeface="PingFang SC"/>
                <a:ea typeface="PingFang SC"/>
              </a:rPr>
              <a:t> 8.25–9.3 / </a:t>
            </a:r>
            <a:r>
              <a:rPr lang="zh-CN" sz="1050">
                <a:solidFill>
                  <a:srgbClr val="D7DBEA"/>
                </a:solidFill>
                <a:latin typeface="PingFang SC"/>
                <a:ea typeface="PingFang SC"/>
              </a:rPr>
              <a:t>决赛</a:t>
            </a:r>
            <a:r>
              <a:rPr lang="en-US" sz="1050">
                <a:solidFill>
                  <a:srgbClr val="D7DBEA"/>
                </a:solidFill>
                <a:latin typeface="PingFang SC"/>
                <a:ea typeface="PingFang SC"/>
              </a:rPr>
              <a:t> 9.22</a:t>
            </a:r>
            <a:r>
              <a:rPr lang="zh-CN" sz="1050">
                <a:solidFill>
                  <a:srgbClr val="D7DBEA"/>
                </a:solidFill>
                <a:latin typeface="PingFang SC"/>
                <a:ea typeface="PingFang SC"/>
              </a:rPr>
              <a:t>，窗口内完成</a:t>
            </a:r>
            <a:endParaRPr/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248" name="" descr="&lt;Slide style={{ width:'1280px', height:'720px', background:'#1B1F3B', padding:'0', position:'relative', display:'flex', flexDirection:'column', justifyContent:'center', paddingLeft:110, overflow:'hidden' }}&gt;&#10;  &lt;Box style={{ position:'absolute', right:0, top:0, width:320, height:320, background:'linear-gradient(135deg,#FF6B35 0%, transparent 100%)', opacity:0.14 }} /&gt;&#10;  &lt;Text style={{ position:'absolute', top:70, left:90, fontSize:240, fontWeight:'bold', color:'#2A2F5B', fontFamily:'Inter', lineHeight:1, zIndex:0 }}&gt;08&lt;/Text&gt;&#10;  &lt;Box style={{ position:'relative', zIndex:1 }}&gt;&#10;    &lt;Box style={{ width:80, height:6, background:'#FF6B35', borderRadius:3, marginBottom:22 }} /&gt;&#10;    &lt;Text style={{ fontSize:48, fontWeight:'bold', color:'#FFFFFF', fontFamily:'PingFang SC' }}&gt;团队介绍&lt;/Text&gt;&#10;    &lt;Text style={{ fontSize:19, color:'#9AA1B8', marginTop:14, fontFamily:'Inter', letterSpacing:3 }}&gt;TEAM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1F3B"/>
          </a:solidFill>
          <a:ln/>
        </p:spPr>
        <p:txBody>
          <a:bodyPr/>
          <a:p/>
        </p:txBody>
      </p:sp>
      <p:sp>
        <p:nvSpPr>
          <p:cNvPr id="250" name=""/>
          <p:cNvSpPr/>
          <p:nvPr/>
        </p:nvSpPr>
        <p:spPr>
          <a:xfrm rot="0" flipH="0" flipV="0">
            <a:off x="9144000" y="0"/>
            <a:ext cx="3048000" cy="3048000"/>
          </a:xfrm>
          <a:prstGeom prst="rect">
            <a:avLst/>
          </a:prstGeom>
          <a:gradFill>
            <a:gsLst>
              <a:gs pos="0">
                <a:srgbClr val="FF6B35">
                  <a:alpha val="14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57250" y="666750"/>
            <a:ext cx="254317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2A2F5B"/>
                </a:solidFill>
                <a:latin typeface="Inter"/>
                <a:ea typeface="Inter"/>
              </a:rPr>
              <a:t>08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1047750" y="2847975"/>
            <a:ext cx="762000" cy="571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047750" y="3114675"/>
            <a:ext cx="111442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PingFang SC"/>
                <a:ea typeface="PingFang SC"/>
              </a:rPr>
              <a:t>团队介绍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047750" y="3800475"/>
            <a:ext cx="11144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225">
                <a:solidFill>
                  <a:srgbClr val="9AA1B8"/>
                </a:solidFill>
                <a:latin typeface="Inter"/>
                <a:ea typeface="Inter"/>
              </a:rPr>
              <a:t>TEAM</a:t>
            </a:r>
            <a:endParaRPr/>
          </a:p>
        </p:txBody>
      </p:sp>
    </p:spTree>
  </p:cSld>
</p:sld>
</file>

<file path=ppt/slides/slide1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69" name="" descr="&lt;Slide style={{ width:'1280px', height:'720px', background:'#FFFFFF', padding:'24px 64px 40px', display:'flex', flexDirection:'column' }}&gt;&#10;  &lt;Box style={{ display:'flex', alignItems:'center', gap:14, height:64 }}&gt;&#10;    &lt;Box style={{ width:8, height:34, background:'#FF6B35', borderRadius:4 }} /&gt;&#10;    &lt;Text style={{ fontSize:30, fontWeight:'bold', color:'#1B1F3B', fontFamily:'PingFang SC' }}&gt;团队介绍&lt;/Text&gt;&#10;    &lt;Text style={{ fontSize:15, color:'#9AA1B8', fontFamily:'PingFang SC', marginLeft:8 }}&gt;（请替换为真实姓名 / 单位 / 分工）&lt;/Text&gt;&#10;  &lt;/Box&gt;&#10;  &lt;Box style={{ display:'flex', gap:18, marginTop:14 }}&gt;&#10;    {[&#10;      { r:'项目负责人', d:'整体方案设计、对外叙事与参赛材料' },&#10;      { r:'研发工程师', d:'LoopDesk 内核、Worker Runtime 适配层' },&#10;      { r:'验证与质量', d:'独立 Verifier、自举回归集与 Badcase 评测' },&#10;      { r:'Skill 工程', d:'7 个新 Skill 与 Curator 经验蒸馏流水线' },&#10;    ].map((m, i) =&gt; (&#10;      &lt;Box key={i} style={{ flex:1, background:'#F5F7FB', borderTop:'4px solid #FF6B35', borderRadius:'0 0 12px 12px', padding:'22px 18px', height:300, display:'flex', flexDirection:'column', alignItems:'center', textAlign:'center' }}&gt;&#10;        &lt;Box style={{ width:80, height:80, borderRadius:40, background:'#E9EEFB', justifyContent:'center', alignItems:'center' }}&gt;&#10;          &lt;FAIcon name='user' style={{ fill:'#2A2F5B', width:38, height:38 }} /&gt;&#10;        &lt;/Box&gt;&#10;        &lt;Text style={{ fontSize:20, fontWeight:'bold', color:'#FF6B35', marginTop:16, fontFamily:'PingFang SC' }}&gt;姓名待填&lt;/Text&gt;&#10;        &lt;Text style={{ fontSize:15, fontWeight:'bold', color:'#1B1F3B', marginTop:6, fontFamily:'PingFang SC' }}&gt;{m.r}&lt;/Text&gt;&#10;        &lt;Box style={{ width:36, height:3, background:'#FF6B35', borderRadius:2, margin:'12px 0' }} /&gt;&#10;        &lt;Text style={{ fontSize:14, color:'#4A5168', lineHeight:1.6, fontFamily:'PingFang SC' }}&gt;{m.d}&lt;/Text&gt;&#10;      &lt;/Box&gt;&#10;    ))}&#10;  &lt;/Box&gt;&#10;  &lt;Box style={{ background:'#FFF4EE', borderRadius:10, padding:'14px 20px', marginTop:18, display:'flex', alignItems:'center', gap:12 }}&gt;&#10;    &lt;FAIcon name='info-circle' style={{ fill:'#FF6B35', width:22, height:22 }} /&gt;&#10;    &lt;Text style={{ fontSize:14.5, color:'#5A3320', fontFamily:'PingFang SC' }}&gt;本页为占位模板，请替换为真实团队成员、单位与分工；复赛阶段需补充可联系的实体信息与贡献声明。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609600" y="371475"/>
            <a:ext cx="76200" cy="3238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19150" y="361950"/>
            <a:ext cx="1143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B1F3B"/>
                </a:solidFill>
                <a:latin typeface="PingFang SC"/>
                <a:ea typeface="PingFang SC"/>
              </a:rPr>
              <a:t>团队介绍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2171700" y="447675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AA1B8"/>
                </a:solidFill>
                <a:latin typeface="PingFang SC"/>
                <a:ea typeface="PingFang SC"/>
              </a:rPr>
              <a:t>（请替换为真实姓名</a:t>
            </a:r>
            <a:r>
              <a:rPr lang="en-US" sz="1125">
                <a:solidFill>
                  <a:srgbClr val="9AA1B8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9AA1B8"/>
                </a:solidFill>
                <a:latin typeface="PingFang SC"/>
                <a:ea typeface="PingFang SC"/>
              </a:rPr>
              <a:t>单位</a:t>
            </a:r>
            <a:r>
              <a:rPr lang="en-US" sz="1125">
                <a:solidFill>
                  <a:srgbClr val="9AA1B8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9AA1B8"/>
                </a:solidFill>
                <a:latin typeface="PingFang SC"/>
                <a:ea typeface="PingFang SC"/>
              </a:rPr>
              <a:t>分工）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09600" y="1009650"/>
            <a:ext cx="2619375" cy="2819400"/>
          </a:xfrm>
          <a:custGeom>
            <a:pathLst>
              <a:path w="275" h="296">
                <a:moveTo>
                  <a:pt x="0" y="0"/>
                </a:moveTo>
                <a:lnTo>
                  <a:pt x="275" y="0"/>
                </a:lnTo>
                <a:lnTo>
                  <a:pt x="275" y="0"/>
                </a:lnTo>
                <a:lnTo>
                  <a:pt x="275" y="284"/>
                </a:lnTo>
                <a:cubicBezTo>
                  <a:pt x="275" y="291"/>
                  <a:pt x="270" y="296"/>
                  <a:pt x="263" y="296"/>
                </a:cubicBezTo>
                <a:lnTo>
                  <a:pt x="12" y="296"/>
                </a:lnTo>
                <a:cubicBezTo>
                  <a:pt x="5" y="296"/>
                  <a:pt x="0" y="291"/>
                  <a:pt x="0" y="284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609600" y="1009650"/>
            <a:ext cx="2619375" cy="2819400"/>
          </a:xfrm>
          <a:custGeom>
            <a:pathLst>
              <a:path w="275" h="296">
                <a:moveTo>
                  <a:pt x="275" y="4"/>
                </a:moveTo>
                <a:lnTo>
                  <a:pt x="0" y="4"/>
                </a:lnTo>
                <a:lnTo>
                  <a:pt x="0" y="0"/>
                </a:lnTo>
                <a:lnTo>
                  <a:pt x="275" y="0"/>
                </a:ln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276" name=""/>
          <p:cNvSpPr/>
          <p:nvPr/>
        </p:nvSpPr>
        <p:spPr>
          <a:xfrm rot="0" flipH="0" flipV="0">
            <a:off x="1543050" y="12192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  <p:txBody>
          <a:bodyPr/>
          <a:p/>
        </p:txBody>
      </p:sp>
      <p:pic>
        <p:nvPicPr>
          <p:cNvPr id="2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743075" y="1419225"/>
            <a:ext cx="361950" cy="361950"/>
          </a:xfrm>
          <a:prstGeom prst="rect">
            <a:avLst/>
          </a:prstGeom>
          <a:ln/>
        </p:spPr>
      </p:pic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543050" y="2133600"/>
            <a:ext cx="762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FF6B35"/>
                </a:solidFill>
                <a:latin typeface="PingFang SC"/>
                <a:ea typeface="PingFang SC"/>
              </a:rPr>
              <a:t>姓名待填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562100" y="2419350"/>
            <a:ext cx="71437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1B1F3B"/>
                </a:solidFill>
                <a:latin typeface="PingFang SC"/>
                <a:ea typeface="PingFang SC"/>
              </a:rPr>
              <a:t>项目负责人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1752600" y="2705100"/>
            <a:ext cx="342900" cy="28575"/>
          </a:xfrm>
          <a:prstGeom prst="roundRect">
            <a:avLst>
              <a:gd name="adj" fmla="val 66667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57250" y="2847975"/>
            <a:ext cx="21336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整体方案设计、对外叙事与参赛材料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3400425" y="1009650"/>
            <a:ext cx="2609850" cy="2819400"/>
          </a:xfrm>
          <a:custGeom>
            <a:pathLst>
              <a:path w="274" h="296">
                <a:moveTo>
                  <a:pt x="0" y="0"/>
                </a:moveTo>
                <a:lnTo>
                  <a:pt x="274" y="0"/>
                </a:lnTo>
                <a:lnTo>
                  <a:pt x="274" y="0"/>
                </a:lnTo>
                <a:lnTo>
                  <a:pt x="274" y="284"/>
                </a:lnTo>
                <a:cubicBezTo>
                  <a:pt x="274" y="291"/>
                  <a:pt x="269" y="296"/>
                  <a:pt x="262" y="296"/>
                </a:cubicBezTo>
                <a:lnTo>
                  <a:pt x="12" y="296"/>
                </a:lnTo>
                <a:cubicBezTo>
                  <a:pt x="5" y="296"/>
                  <a:pt x="0" y="291"/>
                  <a:pt x="0" y="284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3400425" y="1009650"/>
            <a:ext cx="2609850" cy="2819400"/>
          </a:xfrm>
          <a:custGeom>
            <a:pathLst>
              <a:path w="274" h="296">
                <a:moveTo>
                  <a:pt x="274" y="4"/>
                </a:moveTo>
                <a:lnTo>
                  <a:pt x="0" y="4"/>
                </a:lnTo>
                <a:lnTo>
                  <a:pt x="0" y="0"/>
                </a:lnTo>
                <a:lnTo>
                  <a:pt x="274" y="0"/>
                </a:ln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284" name=""/>
          <p:cNvSpPr/>
          <p:nvPr/>
        </p:nvSpPr>
        <p:spPr>
          <a:xfrm rot="0" flipH="0" flipV="0">
            <a:off x="4324350" y="12192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  <p:txBody>
          <a:bodyPr/>
          <a:p/>
        </p:txBody>
      </p:sp>
      <p:pic>
        <p:nvPicPr>
          <p:cNvPr id="2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24375" y="1419225"/>
            <a:ext cx="361950" cy="361950"/>
          </a:xfrm>
          <a:prstGeom prst="rect">
            <a:avLst/>
          </a:prstGeom>
          <a:ln/>
        </p:spPr>
      </p:pic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4324350" y="2133600"/>
            <a:ext cx="762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FF6B35"/>
                </a:solidFill>
                <a:latin typeface="PingFang SC"/>
                <a:ea typeface="PingFang SC"/>
              </a:rPr>
              <a:t>姓名待填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4352925" y="2419350"/>
            <a:ext cx="71437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1B1F3B"/>
                </a:solidFill>
                <a:latin typeface="PingFang SC"/>
                <a:ea typeface="PingFang SC"/>
              </a:rPr>
              <a:t>研发工程师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4533900" y="2705100"/>
            <a:ext cx="342900" cy="28575"/>
          </a:xfrm>
          <a:prstGeom prst="roundRect">
            <a:avLst>
              <a:gd name="adj" fmla="val 66667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3571875" y="2847975"/>
            <a:ext cx="2266950" cy="5143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60000"/>
              </a:lnSpc>
            </a:pPr>
            <a:r>
              <a:rPr lang="en-US" sz="1050">
                <a:solidFill>
                  <a:srgbClr val="4A5168"/>
                </a:solidFill>
                <a:latin typeface="PingFang SC"/>
                <a:ea typeface="PingFang SC"/>
              </a:rPr>
              <a:t>LoopDesk </a:t>
            </a: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内核、</a:t>
            </a:r>
            <a:r>
              <a:rPr lang="en-US" sz="1050">
                <a:solidFill>
                  <a:srgbClr val="4A5168"/>
                </a:solidFill>
                <a:latin typeface="PingFang SC"/>
                <a:ea typeface="PingFang SC"/>
              </a:rPr>
              <a:t>Worker Runtime </a:t>
            </a: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适配层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6181725" y="1009650"/>
            <a:ext cx="2619375" cy="2819400"/>
          </a:xfrm>
          <a:custGeom>
            <a:pathLst>
              <a:path w="275" h="296">
                <a:moveTo>
                  <a:pt x="0" y="0"/>
                </a:moveTo>
                <a:lnTo>
                  <a:pt x="275" y="0"/>
                </a:lnTo>
                <a:lnTo>
                  <a:pt x="275" y="0"/>
                </a:lnTo>
                <a:lnTo>
                  <a:pt x="275" y="284"/>
                </a:lnTo>
                <a:cubicBezTo>
                  <a:pt x="275" y="291"/>
                  <a:pt x="270" y="296"/>
                  <a:pt x="263" y="296"/>
                </a:cubicBezTo>
                <a:lnTo>
                  <a:pt x="12" y="296"/>
                </a:lnTo>
                <a:cubicBezTo>
                  <a:pt x="5" y="296"/>
                  <a:pt x="0" y="291"/>
                  <a:pt x="0" y="284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6181725" y="1009650"/>
            <a:ext cx="2619375" cy="2819400"/>
          </a:xfrm>
          <a:custGeom>
            <a:pathLst>
              <a:path w="275" h="296">
                <a:moveTo>
                  <a:pt x="275" y="4"/>
                </a:moveTo>
                <a:lnTo>
                  <a:pt x="0" y="4"/>
                </a:lnTo>
                <a:lnTo>
                  <a:pt x="0" y="0"/>
                </a:lnTo>
                <a:lnTo>
                  <a:pt x="275" y="0"/>
                </a:ln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7115175" y="12192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  <p:txBody>
          <a:bodyPr/>
          <a:p/>
        </p:txBody>
      </p:sp>
      <p:pic>
        <p:nvPicPr>
          <p:cNvPr id="2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315200" y="1419225"/>
            <a:ext cx="361950" cy="361950"/>
          </a:xfrm>
          <a:prstGeom prst="rect">
            <a:avLst/>
          </a:prstGeom>
          <a:ln/>
        </p:spPr>
      </p:pic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7115175" y="2133600"/>
            <a:ext cx="762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FF6B35"/>
                </a:solidFill>
                <a:latin typeface="PingFang SC"/>
                <a:ea typeface="PingFang SC"/>
              </a:rPr>
              <a:t>姓名待填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134225" y="2419350"/>
            <a:ext cx="71437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1B1F3B"/>
                </a:solidFill>
                <a:latin typeface="PingFang SC"/>
                <a:ea typeface="PingFang SC"/>
              </a:rPr>
              <a:t>验证与质量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7324725" y="2705100"/>
            <a:ext cx="342900" cy="28575"/>
          </a:xfrm>
          <a:prstGeom prst="roundRect">
            <a:avLst>
              <a:gd name="adj" fmla="val 66667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353175" y="2847975"/>
            <a:ext cx="2276475" cy="5143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60000"/>
              </a:lnSpc>
            </a:pP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独立</a:t>
            </a:r>
            <a:r>
              <a:rPr lang="en-US" sz="1050">
                <a:solidFill>
                  <a:srgbClr val="4A5168"/>
                </a:solidFill>
                <a:latin typeface="PingFang SC"/>
                <a:ea typeface="PingFang SC"/>
              </a:rPr>
              <a:t> Verifier</a:t>
            </a: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、自举回归集与</a:t>
            </a:r>
            <a:r>
              <a:rPr lang="en-US" sz="1050">
                <a:solidFill>
                  <a:srgbClr val="4A5168"/>
                </a:solidFill>
                <a:latin typeface="PingFang SC"/>
                <a:ea typeface="PingFang SC"/>
              </a:rPr>
              <a:t> Badcase </a:t>
            </a: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评测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8972550" y="1009650"/>
            <a:ext cx="2609850" cy="2819400"/>
          </a:xfrm>
          <a:custGeom>
            <a:pathLst>
              <a:path w="274" h="296">
                <a:moveTo>
                  <a:pt x="0" y="0"/>
                </a:moveTo>
                <a:lnTo>
                  <a:pt x="274" y="0"/>
                </a:lnTo>
                <a:lnTo>
                  <a:pt x="274" y="0"/>
                </a:lnTo>
                <a:lnTo>
                  <a:pt x="274" y="284"/>
                </a:lnTo>
                <a:cubicBezTo>
                  <a:pt x="274" y="291"/>
                  <a:pt x="269" y="296"/>
                  <a:pt x="262" y="296"/>
                </a:cubicBezTo>
                <a:lnTo>
                  <a:pt x="12" y="296"/>
                </a:lnTo>
                <a:cubicBezTo>
                  <a:pt x="5" y="296"/>
                  <a:pt x="0" y="291"/>
                  <a:pt x="0" y="284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7FB"/>
          </a:solidFill>
          <a:ln/>
        </p:spPr>
        <p:txBody>
          <a:bodyPr/>
          <a:p/>
        </p:txBody>
      </p:sp>
      <p:sp>
        <p:nvSpPr>
          <p:cNvPr id="299" name=""/>
          <p:cNvSpPr/>
          <p:nvPr/>
        </p:nvSpPr>
        <p:spPr>
          <a:xfrm rot="0" flipH="0" flipV="0">
            <a:off x="8972550" y="1009650"/>
            <a:ext cx="2609850" cy="2819400"/>
          </a:xfrm>
          <a:custGeom>
            <a:pathLst>
              <a:path w="274" h="296">
                <a:moveTo>
                  <a:pt x="274" y="4"/>
                </a:moveTo>
                <a:lnTo>
                  <a:pt x="0" y="4"/>
                </a:lnTo>
                <a:lnTo>
                  <a:pt x="0" y="0"/>
                </a:lnTo>
                <a:lnTo>
                  <a:pt x="274" y="0"/>
                </a:lnTo>
                <a:close/>
              </a:path>
            </a:pathLst>
          </a:custGeom>
          <a:solidFill>
            <a:srgbClr val="FF6B35"/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9896475" y="12192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  <p:txBody>
          <a:bodyPr/>
          <a:p/>
        </p:txBody>
      </p:sp>
      <p:pic>
        <p:nvPicPr>
          <p:cNvPr id="3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096500" y="1419225"/>
            <a:ext cx="361950" cy="361950"/>
          </a:xfrm>
          <a:prstGeom prst="rect">
            <a:avLst/>
          </a:prstGeom>
          <a:ln/>
        </p:spPr>
      </p:pic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9896475" y="2133600"/>
            <a:ext cx="762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FF6B35"/>
                </a:solidFill>
                <a:latin typeface="PingFang SC"/>
                <a:ea typeface="PingFang SC"/>
              </a:rPr>
              <a:t>姓名待填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9972675" y="2419350"/>
            <a:ext cx="6191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B1F3B"/>
                </a:solidFill>
                <a:latin typeface="PingFang SC"/>
                <a:ea typeface="PingFang SC"/>
              </a:rPr>
              <a:t>Skill </a:t>
            </a:r>
            <a:r>
              <a:rPr lang="zh-CN" sz="1125" b="1">
                <a:solidFill>
                  <a:srgbClr val="1B1F3B"/>
                </a:solidFill>
                <a:latin typeface="PingFang SC"/>
                <a:ea typeface="PingFang SC"/>
              </a:rPr>
              <a:t>工程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10106025" y="2705100"/>
            <a:ext cx="342900" cy="28575"/>
          </a:xfrm>
          <a:prstGeom prst="roundRect">
            <a:avLst>
              <a:gd name="adj" fmla="val 66667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9144000" y="2847975"/>
            <a:ext cx="2266950" cy="5143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60000"/>
              </a:lnSpc>
            </a:pPr>
            <a:r>
              <a:rPr lang="en-US" sz="1050">
                <a:solidFill>
                  <a:srgbClr val="4A5168"/>
                </a:solidFill>
                <a:latin typeface="PingFang SC"/>
                <a:ea typeface="PingFang SC"/>
              </a:rPr>
              <a:t>7 </a:t>
            </a: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个新</a:t>
            </a:r>
            <a:r>
              <a:rPr lang="en-US" sz="1050">
                <a:solidFill>
                  <a:srgbClr val="4A5168"/>
                </a:solidFill>
                <a:latin typeface="PingFang SC"/>
                <a:ea typeface="PingFang SC"/>
              </a:rPr>
              <a:t> Skill </a:t>
            </a: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与</a:t>
            </a:r>
            <a:r>
              <a:rPr lang="en-US" sz="1050">
                <a:solidFill>
                  <a:srgbClr val="4A5168"/>
                </a:solidFill>
                <a:latin typeface="PingFang SC"/>
                <a:ea typeface="PingFang SC"/>
              </a:rPr>
              <a:t> Curator </a:t>
            </a:r>
            <a:r>
              <a:rPr lang="zh-CN" sz="1050">
                <a:solidFill>
                  <a:srgbClr val="4A5168"/>
                </a:solidFill>
                <a:latin typeface="PingFang SC"/>
                <a:ea typeface="PingFang SC"/>
              </a:rPr>
              <a:t>经验蒸馏流水线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609600" y="4000500"/>
            <a:ext cx="10972800" cy="476250"/>
          </a:xfrm>
          <a:prstGeom prst="roundRect">
            <a:avLst>
              <a:gd name="adj" fmla="val 20000"/>
            </a:avLst>
          </a:prstGeom>
          <a:solidFill>
            <a:srgbClr val="FFF4EE"/>
          </a:solidFill>
          <a:ln/>
        </p:spPr>
        <p:txBody>
          <a:bodyPr/>
          <a:p/>
        </p:txBody>
      </p:sp>
      <p:pic>
        <p:nvPicPr>
          <p:cNvPr id="3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00100" y="4133850"/>
            <a:ext cx="209550" cy="209550"/>
          </a:xfrm>
          <a:prstGeom prst="rect">
            <a:avLst/>
          </a:prstGeom>
          <a:ln/>
        </p:spPr>
      </p:pic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123950" y="4152900"/>
            <a:ext cx="6353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5A3320"/>
                </a:solidFill>
                <a:latin typeface="PingFang SC"/>
                <a:ea typeface="PingFang SC"/>
              </a:rPr>
              <a:t>本页为占位模板，请替换为真实团队成员、单位与分工；复赛阶段需补充可联系的实体信息与贡献声明。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2026-08-14T09:19:53Z</dcterms:created>
  <dcterms:modified xsi:type="dcterms:W3CDTF">2026-08-14T09:19:53Z</dcterms:modified>
</cp:coreProperties>
</file>